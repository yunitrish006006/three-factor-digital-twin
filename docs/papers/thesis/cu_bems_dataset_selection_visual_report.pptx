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Noto Sans CJK TC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Noto Sans CJK TC"/>
              </a:rPr>
              <a:t>Temperature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Temperature °C</c:v>
                </c:pt>
              </c:strCache>
            </c:strRef>
          </c:tx>
          <c:spPr>
            <a:solidFill>
              <a:srgbClr val="B91C1C"/>
            </a:solidFill>
            <a:ln w="31750" cap="flat">
              <a:solidFill>
                <a:srgbClr val="B91C1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91C1C"/>
              </a:solidFill>
              <a:ln w="9525" cap="flat">
                <a:solidFill>
                  <a:srgbClr val="B91C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00:00</c:v>
                  </c:pt>
                  <c:pt idx="1">
                    <c:v>02:00</c:v>
                  </c:pt>
                  <c:pt idx="2">
                    <c:v>04:00</c:v>
                  </c:pt>
                  <c:pt idx="3">
                    <c:v>06:00</c:v>
                  </c:pt>
                  <c:pt idx="4">
                    <c:v>08:00</c:v>
                  </c:pt>
                  <c:pt idx="5">
                    <c:v>10:00</c:v>
                  </c:pt>
                  <c:pt idx="6">
                    <c:v>12:00</c:v>
                  </c:pt>
                  <c:pt idx="7">
                    <c:v>14:00</c:v>
                  </c:pt>
                  <c:pt idx="8">
                    <c:v>16:00</c:v>
                  </c:pt>
                  <c:pt idx="9">
                    <c:v>18:00</c:v>
                  </c:pt>
                  <c:pt idx="10">
                    <c:v>20:00</c:v>
                  </c:pt>
                  <c:pt idx="11">
                    <c:v>22:00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27.2</c:v>
                </c:pt>
                <c:pt idx="1">
                  <c:v>27.1</c:v>
                </c:pt>
                <c:pt idx="2">
                  <c:v>27</c:v>
                </c:pt>
                <c:pt idx="3">
                  <c:v>27.2</c:v>
                </c:pt>
                <c:pt idx="4">
                  <c:v>26.8</c:v>
                </c:pt>
                <c:pt idx="5">
                  <c:v>26.1</c:v>
                </c:pt>
                <c:pt idx="6">
                  <c:v>25.8</c:v>
                </c:pt>
                <c:pt idx="7">
                  <c:v>25.9</c:v>
                </c:pt>
                <c:pt idx="8">
                  <c:v>26.2</c:v>
                </c:pt>
                <c:pt idx="9">
                  <c:v>26.8</c:v>
                </c:pt>
                <c:pt idx="10">
                  <c:v>27.1</c:v>
                </c:pt>
                <c:pt idx="11">
                  <c:v>27.2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Noto Sans CJK T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9"/>
          <c:min val="24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Noto Sans CJK T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Noto Sans CJK TC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Noto Sans CJK TC"/>
              </a:rPr>
              <a:t>Humidity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Humidity %RH</c:v>
                </c:pt>
              </c:strCache>
            </c:strRef>
          </c:tx>
          <c:spPr>
            <a:solidFill>
              <a:srgbClr val="0E766B"/>
            </a:solidFill>
            <a:ln w="31750" cap="flat">
              <a:solidFill>
                <a:srgbClr val="0E76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766B"/>
              </a:solidFill>
              <a:ln w="9525" cap="flat">
                <a:solidFill>
                  <a:srgbClr val="0E76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00:00</c:v>
                  </c:pt>
                  <c:pt idx="1">
                    <c:v>02:00</c:v>
                  </c:pt>
                  <c:pt idx="2">
                    <c:v>04:00</c:v>
                  </c:pt>
                  <c:pt idx="3">
                    <c:v>06:00</c:v>
                  </c:pt>
                  <c:pt idx="4">
                    <c:v>08:00</c:v>
                  </c:pt>
                  <c:pt idx="5">
                    <c:v>10:00</c:v>
                  </c:pt>
                  <c:pt idx="6">
                    <c:v>12:00</c:v>
                  </c:pt>
                  <c:pt idx="7">
                    <c:v>14:00</c:v>
                  </c:pt>
                  <c:pt idx="8">
                    <c:v>16:00</c:v>
                  </c:pt>
                  <c:pt idx="9">
                    <c:v>18:00</c:v>
                  </c:pt>
                  <c:pt idx="10">
                    <c:v>20:00</c:v>
                  </c:pt>
                  <c:pt idx="11">
                    <c:v>22:00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65</c:v>
                </c:pt>
                <c:pt idx="1">
                  <c:v>66</c:v>
                </c:pt>
                <c:pt idx="2">
                  <c:v>66</c:v>
                </c:pt>
                <c:pt idx="3">
                  <c:v>65</c:v>
                </c:pt>
                <c:pt idx="4">
                  <c:v>63</c:v>
                </c:pt>
                <c:pt idx="5">
                  <c:v>60</c:v>
                </c:pt>
                <c:pt idx="6">
                  <c:v>58</c:v>
                </c:pt>
                <c:pt idx="7">
                  <c:v>58</c:v>
                </c:pt>
                <c:pt idx="8">
                  <c:v>59</c:v>
                </c:pt>
                <c:pt idx="9">
                  <c:v>61</c:v>
                </c:pt>
                <c:pt idx="10">
                  <c:v>63</c:v>
                </c:pt>
                <c:pt idx="11">
                  <c:v>64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Noto Sans CJK T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  <c:min val="5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Noto Sans CJK T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Noto Sans CJK TC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Noto Sans CJK TC"/>
              </a:rPr>
              <a:t>Illuminance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Illuminance lux</c:v>
                </c:pt>
              </c:strCache>
            </c:strRef>
          </c:tx>
          <c:spPr>
            <a:solidFill>
              <a:srgbClr val="B7791F"/>
            </a:solidFill>
            <a:ln w="31750" cap="flat">
              <a:solidFill>
                <a:srgbClr val="B779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7791F"/>
              </a:solidFill>
              <a:ln w="9525" cap="flat">
                <a:solidFill>
                  <a:srgbClr val="B779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00:00</c:v>
                  </c:pt>
                  <c:pt idx="1">
                    <c:v>02:00</c:v>
                  </c:pt>
                  <c:pt idx="2">
                    <c:v>04:00</c:v>
                  </c:pt>
                  <c:pt idx="3">
                    <c:v>06:00</c:v>
                  </c:pt>
                  <c:pt idx="4">
                    <c:v>08:00</c:v>
                  </c:pt>
                  <c:pt idx="5">
                    <c:v>10:00</c:v>
                  </c:pt>
                  <c:pt idx="6">
                    <c:v>12:00</c:v>
                  </c:pt>
                  <c:pt idx="7">
                    <c:v>14:00</c:v>
                  </c:pt>
                  <c:pt idx="8">
                    <c:v>16:00</c:v>
                  </c:pt>
                  <c:pt idx="9">
                    <c:v>18:00</c:v>
                  </c:pt>
                  <c:pt idx="10">
                    <c:v>20:00</c:v>
                  </c:pt>
                  <c:pt idx="11">
                    <c:v>22:00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</c:v>
                </c:pt>
                <c:pt idx="1">
                  <c:v>5</c:v>
                </c:pt>
                <c:pt idx="2">
                  <c:v>8</c:v>
                </c:pt>
                <c:pt idx="3">
                  <c:v>40</c:v>
                </c:pt>
                <c:pt idx="4">
                  <c:v>350</c:v>
                </c:pt>
                <c:pt idx="5">
                  <c:v>580</c:v>
                </c:pt>
                <c:pt idx="6">
                  <c:v>620</c:v>
                </c:pt>
                <c:pt idx="7">
                  <c:v>560</c:v>
                </c:pt>
                <c:pt idx="8">
                  <c:v>420</c:v>
                </c:pt>
                <c:pt idx="9">
                  <c:v>120</c:v>
                </c:pt>
                <c:pt idx="10">
                  <c:v>20</c:v>
                </c:pt>
                <c:pt idx="11">
                  <c:v>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Noto Sans CJK T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Noto Sans CJK T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7620">
            <a:solidFill>
              <a:srgbClr val="D5DBE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932688"/>
            <a:ext cx="6949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CU-BEMS 資料集選用與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Floor 6 Zone 1 視覺化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76656" y="224028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資料庫對比 · 欄位映射 · 時序圖表 · 論文 claim boundary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944368"/>
            <a:ext cx="6172200" cy="566928"/>
          </a:xfrm>
          <a:prstGeom prst="roundRect">
            <a:avLst>
              <a:gd name="adj" fmla="val 12903"/>
            </a:avLst>
          </a:prstGeom>
          <a:solidFill>
            <a:srgbClr val="E8F2FF"/>
          </a:solidFill>
          <a:ln w="8890">
            <a:solidFill>
              <a:srgbClr val="BED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3063240"/>
            <a:ext cx="58978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主範圍建議：Chamchuri 5 Building · Floor 6 · Zone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38160" y="11704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FD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資料定位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138160" y="15544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Zone-level benchmark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138160" y="19933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不是 3D full-field ground truth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38160" y="2468880"/>
            <a:ext cx="2834640" cy="0"/>
          </a:xfrm>
          <a:prstGeom prst="line">
            <a:avLst/>
          </a:prstGeom>
          <a:noFill/>
          <a:ln w="15240">
            <a:solidFill>
              <a:srgbClr val="BBD4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278892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先用同一 zone 做乾淨對照，其他 floor-zone 只做補充泛化檢查。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資料來源：2345-5634-1-PB；Three-Factor-Digital-Twin 程式碼與論文草稿。時序圖為接入模板，需以本機原始 CSV 置換。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6FD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207008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資料庫對比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CU-BEMS 在兩篇研究中的使用方式不同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9692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同一公開資料集，但任務、欄位與 claim boundary 不同。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98448"/>
          <a:ext cx="11018520" cy="4023360"/>
        </p:xfrm>
        <a:graphic>
          <a:graphicData uri="http://schemas.openxmlformats.org/drawingml/2006/table">
            <a:tbl>
              <a:tblPr/>
              <a:tblGrid>
                <a:gridCol w="1874520"/>
                <a:gridCol w="4297680"/>
                <a:gridCol w="48463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比較項目</a:t>
                      </a:r>
                      <a:endParaRPr lang="en-US" sz="102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2345-5634-1-PB</a:t>
                      </a:r>
                      <a:endParaRPr lang="en-US" sz="102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本論文建議選用</a:t>
                      </a:r>
                      <a:endParaRPr lang="en-US" sz="102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使用範圍</a:t>
                      </a:r>
                      <a:endParaRPr lang="en-US" sz="96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Chamchuri 5 Building · Floor 6 · Zone 1</a:t>
                      </a:r>
                      <a:endParaRPr lang="en-US" sz="96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同樣以 Floor 6 Zone 1 作主要對照</a:t>
                      </a:r>
                      <a:endParaRPr lang="en-US" sz="96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研究任務</a:t>
                      </a:r>
                      <a:endParaRPr lang="en-US" sz="96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LSTM 預測未來室內溫度；rule-based AC on/off</a:t>
                      </a:r>
                      <a:endParaRPr lang="en-US" sz="96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C1/C2/C3 三因子 device-response benchmark</a:t>
                      </a:r>
                      <a:endParaRPr lang="en-US" sz="96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主要欄位</a:t>
                      </a:r>
                      <a:endParaRPr lang="en-US" sz="96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indoor temperature；AC electricity consumption → AC status</a:t>
                      </a:r>
                      <a:endParaRPr lang="en-US" sz="96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temperature / humidity / illuminance / AC power / lighting power / plug load</a:t>
                      </a:r>
                      <a:endParaRPr lang="en-US" sz="96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模型定位</a:t>
                      </a:r>
                      <a:endParaRPr lang="en-US" sz="96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單一 zone 的 AC 控制模擬</a:t>
                      </a:r>
                      <a:endParaRPr lang="en-US" sz="96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public task-aligned benchmark；非 3D 場驗證</a:t>
                      </a:r>
                      <a:endParaRPr lang="en-US" sz="96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最重要限制</a:t>
                      </a:r>
                      <a:endParaRPr lang="en-US" sz="96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沒有濕度、照度空間場驗證</a:t>
                      </a:r>
                      <a:endParaRPr lang="en-US" sz="96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沒有單房間幾何、家具遮蔽與 8-corner ground truth</a:t>
                      </a:r>
                      <a:endParaRPr lang="en-US" sz="96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550408"/>
            <a:ext cx="10561320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8890">
            <a:solidFill>
              <a:srgbClr val="F1D69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5669280"/>
            <a:ext cx="1028700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決策：主對照採 Floor 6 Zone 1；其他 floor-zone 不混入主訓練，只放補充泛化測試。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資料來源：2345-5634-1-PB；Three-Factor-Digital-Twin 程式碼與論文草稿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6FD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207008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資料範圍選用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為什麼主資料範圍選 Floor 6 Zone 1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9692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選用邏輯是「可對照、可解釋、避免混合異質 zone」。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" y="1335024"/>
          <a:ext cx="10881360" cy="3794760"/>
        </p:xfrm>
        <a:graphic>
          <a:graphicData uri="http://schemas.openxmlformats.org/drawingml/2006/table">
            <a:tbl>
              <a:tblPr/>
              <a:tblGrid>
                <a:gridCol w="2194560"/>
                <a:gridCol w="4114800"/>
                <a:gridCol w="45720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評估準則</a:t>
                      </a:r>
                      <a:endParaRPr lang="en-US" sz="103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Floor 6 Zone 1</a:t>
                      </a:r>
                      <a:endParaRPr lang="en-US" sz="103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全部 floor-zone 混合</a:t>
                      </a:r>
                      <a:endParaRPr lang="en-US" sz="103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文獻對照性</a:t>
                      </a:r>
                      <a:endParaRPr lang="en-US" sz="97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高：與 2345 論文一致</a:t>
                      </a:r>
                      <a:endParaRPr lang="en-US" sz="97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低：對照關係模糊</a:t>
                      </a:r>
                      <a:endParaRPr lang="en-US" sz="97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資料連續性</a:t>
                      </a:r>
                      <a:endParaRPr lang="en-US" sz="97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高：該文指出較完整且連續</a:t>
                      </a:r>
                      <a:endParaRPr lang="en-US" sz="97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不一定：不同區域缺漏狀況不同</a:t>
                      </a:r>
                      <a:endParaRPr lang="en-US" sz="97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物理同質性</a:t>
                      </a:r>
                      <a:endParaRPr lang="en-US" sz="97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較高：單一 zone 內部關係較穩定</a:t>
                      </a:r>
                      <a:endParaRPr lang="en-US" sz="97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較低：空調、照明、人流與空間大小混雜</a:t>
                      </a:r>
                      <a:endParaRPr lang="en-US" sz="97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論文防守性</a:t>
                      </a:r>
                      <a:endParaRPr lang="en-US" sz="97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強：清楚說明 single-zone benchmark</a:t>
                      </a:r>
                      <a:endParaRPr lang="en-US" sz="97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弱：易被質疑為跨區混合訓練</a:t>
                      </a:r>
                      <a:endParaRPr lang="en-US" sz="97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適合用途</a:t>
                      </a:r>
                      <a:endParaRPr lang="en-US" sz="97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主 benchmark</a:t>
                      </a:r>
                      <a:endParaRPr lang="en-US" sz="97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補充 robustness / leave-one-zone-out</a:t>
                      </a:r>
                      <a:endParaRPr lang="en-US" sz="97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5513832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" y="5564124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論文主張邊界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2057400" y="548640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CU-BEMS 只能支持 zone-level external benchmark；不能支持本研究的單房間 3D dense-field validation。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資料來源：2345-5634-1-PB；Three-Factor-Digital-Twin 程式碼與論文草稿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6FD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207008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欄位映射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Floor 6 Zone 1 可取用欄位與論文任務對應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9692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AC / lighting power 是設備活動 proxy，不等於完整控制指令。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1188720"/>
          <a:ext cx="11155680" cy="4709160"/>
        </p:xfrm>
        <a:graphic>
          <a:graphicData uri="http://schemas.openxmlformats.org/drawingml/2006/table">
            <a:tbl>
              <a:tblPr/>
              <a:tblGrid>
                <a:gridCol w="1325880"/>
                <a:gridCol w="2240280"/>
                <a:gridCol w="3154680"/>
                <a:gridCol w="4434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資料類型</a:t>
                      </a:r>
                      <a:endParaRPr lang="en-US" sz="9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標準化欄位</a:t>
                      </a:r>
                      <a:endParaRPr lang="en-US" sz="9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論文用途</a:t>
                      </a:r>
                      <a:endParaRPr lang="en-US" sz="9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注意事項</a:t>
                      </a:r>
                      <a:endParaRPr lang="en-US" sz="9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時間</a:t>
                      </a:r>
                      <a:endParaRPr lang="en-US" sz="8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timestamp</a:t>
                      </a:r>
                      <a:endParaRPr lang="en-US" sz="8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horizon prediction / chronological split</a:t>
                      </a:r>
                      <a:endParaRPr lang="en-US" sz="8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需保持時間順序，不做 random split</a:t>
                      </a:r>
                      <a:endParaRPr lang="en-US" sz="8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溫度</a:t>
                      </a:r>
                      <a:endParaRPr lang="en-US" sz="8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temperature_c</a:t>
                      </a:r>
                      <a:endParaRPr lang="en-US" sz="8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C1 / C3 input and target</a:t>
                      </a:r>
                      <a:endParaRPr lang="en-US" sz="8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zone-level sensor，不是 3D 空間點</a:t>
                      </a:r>
                      <a:endParaRPr lang="en-US" sz="8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濕度</a:t>
                      </a:r>
                      <a:endParaRPr lang="en-US" sz="8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humidity_pct</a:t>
                      </a:r>
                      <a:endParaRPr lang="en-US" sz="8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C1 / C3 input and target</a:t>
                      </a:r>
                      <a:endParaRPr lang="en-US" sz="8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可做 device response，但不是濕度場 ground truth</a:t>
                      </a:r>
                      <a:endParaRPr lang="en-US" sz="8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照度</a:t>
                      </a:r>
                      <a:endParaRPr lang="en-US" sz="8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illuminance_lux</a:t>
                      </a:r>
                      <a:endParaRPr lang="en-US" sz="8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C2 / C3 input and target</a:t>
                      </a:r>
                      <a:endParaRPr lang="en-US" sz="8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ambient light 與單房間幾何光學不完全對應</a:t>
                      </a:r>
                      <a:endParaRPr lang="en-US" sz="8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AC 用電</a:t>
                      </a:r>
                      <a:endParaRPr lang="en-US" sz="8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ac_power → ac_active</a:t>
                      </a:r>
                      <a:endParaRPr lang="en-US" sz="8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AC response proxy</a:t>
                      </a:r>
                      <a:endParaRPr lang="en-US" sz="8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不能推論風量、風向、模式</a:t>
                      </a:r>
                      <a:endParaRPr lang="en-US" sz="8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照明用電</a:t>
                      </a:r>
                      <a:endParaRPr lang="en-US" sz="8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lighting_power → light_active</a:t>
                      </a:r>
                      <a:endParaRPr lang="en-US" sz="8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lighting response proxy</a:t>
                      </a:r>
                      <a:endParaRPr lang="en-US" sz="8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不能還原燈具幾何配置</a:t>
                      </a:r>
                      <a:endParaRPr lang="en-US" sz="8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插座負載</a:t>
                      </a:r>
                      <a:endParaRPr lang="en-US" sz="8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plug_load_kw</a:t>
                      </a:r>
                      <a:endParaRPr lang="en-US" sz="8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auxiliary feature</a:t>
                      </a:r>
                      <a:endParaRPr lang="en-US" sz="8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只作額外用電負載，不作主因果變數</a:t>
                      </a:r>
                      <a:endParaRPr lang="en-US" sz="8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資料來源：2345-5634-1-PB；Three-Factor-Digital-Twin 程式碼與論文草稿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6FD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207008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時序視覺化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Floor 6 Zone 1 溫度、濕度、照度時序變化圖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9692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圖表模板：目前未提供原始 CSV；實際報告需以 Floor 6 Zone 1 數值重新生成。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94360" y="1298448"/>
          <a:ext cx="3520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343400" y="1298448"/>
          <a:ext cx="3520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2" descr=""/>
          <p:cNvGraphicFramePr/>
          <p:nvPr/>
        </p:nvGraphicFramePr>
        <p:xfrm>
          <a:off x="8092440" y="1298448"/>
          <a:ext cx="3520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 4"/>
          <p:cNvSpPr/>
          <p:nvPr/>
        </p:nvSpPr>
        <p:spPr>
          <a:xfrm>
            <a:off x="685800" y="5705856"/>
            <a:ext cx="1092708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實際產圖規格：x 軸 timestamp；y 軸分別為 temperature_c、humidity_pct、illuminance_lux；建議可疊加 AC / lighting active 的事件標記。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注意：目前對話中未提供 CU-BEMS 原始 CSV，因此此頁為接入模板，不代表 Floor 6 Zone 1 真實值。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6FD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207008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任務設計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 Floor 6 Zone 1 建立 C1 / C2 / C3 三類 benchmark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9692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 zone-level 時序資料拆成與本論文相容的 device-response 任務。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298448"/>
            <a:ext cx="340156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143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298448"/>
            <a:ext cx="3401568" cy="438912"/>
          </a:xfrm>
          <a:prstGeom prst="rect">
            <a:avLst/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140817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C1 · AC response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86968" y="1956816"/>
            <a:ext cx="297180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features: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temperature, humidity, ac_power, plug_load, ac_active</a:t>
            </a:r>
            <a:endParaRPr lang="en-US" sz="1060" dirty="0"/>
          </a:p>
          <a:p>
            <a:pPr indent="0" marL="0">
              <a:buNone/>
            </a:pP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targets: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future temperature, future humidity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4507992" y="1298448"/>
            <a:ext cx="340156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1430">
            <a:solidFill>
              <a:srgbClr val="D8DE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07992" y="1298448"/>
            <a:ext cx="3401568" cy="438912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4296" y="140817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C2 · Lighting response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09160" y="1956816"/>
            <a:ext cx="297180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features: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illuminance, lighting_power, plug_load, light_active</a:t>
            </a:r>
            <a:endParaRPr lang="en-US" sz="1060" dirty="0"/>
          </a:p>
          <a:p>
            <a:pPr indent="0" marL="0">
              <a:buNone/>
            </a:pP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target: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future illuminance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8330184" y="1298448"/>
            <a:ext cx="340156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1430">
            <a:solidFill>
              <a:srgbClr val="D8DE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0184" y="1298448"/>
            <a:ext cx="3401568" cy="438912"/>
          </a:xfrm>
          <a:prstGeom prst="rect">
            <a:avLst/>
          </a:prstGeom>
          <a:solidFill>
            <a:srgbClr val="0E766B"/>
          </a:solidFill>
          <a:ln w="12700">
            <a:solidFill>
              <a:srgbClr val="0E76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76488" y="140817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C3 · Event delta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531352" y="1956816"/>
            <a:ext cx="297180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features: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三因子初始值 + AC/light power + event direction/kind</a:t>
            </a:r>
            <a:endParaRPr lang="en-US" sz="1060" dirty="0"/>
          </a:p>
          <a:p>
            <a:pPr indent="0" marL="0">
              <a:buNone/>
            </a:pP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targets: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Δtemperature, Δhumidity, Δilluminance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914400" y="5166360"/>
            <a:ext cx="10378440" cy="594360"/>
          </a:xfrm>
          <a:prstGeom prst="roundRect">
            <a:avLst>
              <a:gd name="adj" fmla="val 12308"/>
            </a:avLst>
          </a:prstGeom>
          <a:solidFill>
            <a:srgbClr val="EEF5FF"/>
          </a:solidFill>
          <a:ln w="8890">
            <a:solidFill>
              <a:srgbClr val="C7DA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5285232"/>
            <a:ext cx="1010412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切分方式：chronological 70/30 split；比較對象：persistence、linear regression、hybrid digital twin readout。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資料來源：2345-5634-1-PB；Three-Factor-Digital-Twin 程式碼與論文草稿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6FD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207008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結論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可放進論文與口頭報告的最終說法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9692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資料選用要保守，才能避免被問「CU-BEMS 是否真的支援你的 3D 模型」。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298448"/>
            <a:ext cx="1060704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本研究選用 CU-BEMS 中 Chamchuri 5 Building 的 Floor 6 Zone 1 作為主要 public task-aligned benchmark。此範圍與 Ameeruddin et al. 的 AC control 研究一致，且可降低跨樓層、跨區域混合造成的資料異質性。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505456"/>
            <a:ext cx="1024128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可使用欄位：temperature、humidity、illuminance、AC power、lighting power、plug load。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可支持主張：zone-level device response 與 public benchmark 對照。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不可支持主張：單房間 3D full-field MAE、8-corner sensor calibration、家具遮蔽自由空間驗證。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其他 floor-zone 建議放在補充實驗：cross-zone robustness，不放入主訓練。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5285232"/>
            <a:ext cx="10378440" cy="621792"/>
          </a:xfrm>
          <a:prstGeom prst="roundRect">
            <a:avLst>
              <a:gd name="adj" fmla="val 11765"/>
            </a:avLst>
          </a:prstGeom>
          <a:solidFill>
            <a:srgbClr val="FFF2F2"/>
          </a:solidFill>
          <a:ln w="8890">
            <a:solidFill>
              <a:srgbClr val="F3C5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404104"/>
            <a:ext cx="101041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下一步：匯入 Floor 6 Zone 1 原始 CSV 後，將第 5 頁示意圖替換為真實溫濕照度時序圖。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6537960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資料來源：2345-5634-1-PB；Three-Factor-Digital-Twin 程式碼與論文草稿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CU-BEMS 資料集選用與 Floor 6 Zone 1 視覺化</dc:title>
  <dc:subject>CU-BEMS dataset selection report</dc:subject>
  <dc:creator>OpenAI</dc:creator>
  <cp:lastModifiedBy>OpenAI</cp:lastModifiedBy>
  <cp:revision>1</cp:revision>
  <dcterms:created xsi:type="dcterms:W3CDTF">2026-06-14T03:01:33Z</dcterms:created>
  <dcterms:modified xsi:type="dcterms:W3CDTF">2026-06-14T03:01:33Z</dcterms:modified>
</cp:coreProperties>
</file>