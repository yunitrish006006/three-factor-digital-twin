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碩士論文簡報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657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主題：單房間三因子數位孿生、非連網裝置影響學習、工具化服務介面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32561"/>
            <a:ext cx="5120640" cy="2867197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報告流程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493776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1. 問題背景與研究動機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2. 文獻定位與研究缺口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3. 系統架構與數學模型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4. 感測器校正、影響學習與 hybrid residual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5. 實作系統、驗證設計與實驗結果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6. 結論、限制、未來工作與公式整理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論文整體邏輯：問題、方法、證據與結論邊界</a:t>
            </a:r>
          </a:p>
        </p:txBody>
      </p:sp>
      <p:pic>
        <p:nvPicPr>
          <p:cNvPr id="5" name="Picture 4" descr="研究整體邏輯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317" y="1143000"/>
            <a:ext cx="9564604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研究背景與問題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房間場景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真實房間通常只有少量感測器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但使用者關心的是整個空間的舒適度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不是單一點位數值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非連網裝置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冷氣、窗戶、照明常無 API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狀態不可直接讀取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卻持續改變溫度、濕度、照度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核心需求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重建全室三因子分布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 sample/cluster + 三因子目標下支援推薦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研究問題與貢獻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51206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51206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51206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754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7365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RQ1：8 顆角落感測器能否重建單房間三因子空間場？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RQ2：能否從環境資料學習非連網裝置影響？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RQ3：sample/cluster 與三因子目標下能否排序控制動作？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RQ4：能否將模型封裝成 MCP 可查詢工具？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3912" y="1362456"/>
            <a:ext cx="53949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325880"/>
            <a:ext cx="53949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主要貢獻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1929384"/>
            <a:ext cx="50109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single-room three-factor spatial digital twin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power calibration + trilinear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non-networked appliance impact learning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 + Fourier denoising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task-aligned public benchmark strategy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/ Gemma / Web 可互動原型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文獻定位、研究缺口與比較原則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已有研究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房間尺度 IEQ 實驗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有限感測器場重建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thermal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建築 digital twin 平台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常見不足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多只看熱環境或單雙因子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少處理非連網裝置學習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少將模型做成 AI 可查詢工具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多半不是單房間低成本原型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本研究定位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single-room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limited corner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temperature + humidity + 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control-oriented + MCP-accessible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public datasets only for aligned subtasks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整體系統架構</a:t>
            </a:r>
          </a:p>
        </p:txBody>
      </p:sp>
      <p:pic>
        <p:nvPicPr>
          <p:cNvPr id="5" name="Picture 4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70401"/>
            <a:ext cx="5669280" cy="3174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37960" y="1371600"/>
            <a:ext cx="45720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圖 3-1 以 top-down tree 呈現系統責任邊界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情境與觀測層提供 room schema、8 點感測、外部邊界與時間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估測與學習層負責三因子場模型、校正、影響學習與 hybrid residual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服務與決策層暴露 scripts、Web、MCP/Gemma 與 point/zone/action 輸出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主要執行資料流</a:t>
            </a:r>
          </a:p>
        </p:txBody>
      </p:sp>
      <p:pic>
        <p:nvPicPr>
          <p:cNvPr id="5" name="Picture 4" descr="主要執行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0823"/>
            <a:ext cx="5394960" cy="2987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scenario 或 direct input 先進入 service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套用 indoor baseline、裝置、家具與時間設定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再做場估測、感測器校正與 dashboard 輸出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MCP 和 Web 都走同一條執行路徑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90057"/>
            <a:ext cx="5486400" cy="31350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73952" y="1362456"/>
            <a:ext cx="47091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46520" y="1325880"/>
            <a:ext cx="47091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1325880"/>
            <a:ext cx="47091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490472"/>
            <a:ext cx="43434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固定研究設定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544" y="1929384"/>
            <a:ext cx="43251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房間：6 × 4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感測器：floor/ceiling 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區域：window / center / door-side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核心裝置：ac_main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解析度：16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模組化裝置與家具阻擋</a:t>
            </a:r>
          </a:p>
        </p:txBody>
      </p:sp>
      <p:pic>
        <p:nvPicPr>
          <p:cNvPr id="5" name="Picture 4" descr="可模組化裝置與家具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81609"/>
            <a:ext cx="5394960" cy="29691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冷氣、窗戶、燈都可視為模組化裝置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家具是可開關、可移動的阻擋物件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阻擋效果會依幾何位置自適應調整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Web 端可新增 custom devices 與 custom furniture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 nominal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16736"/>
            <a:ext cx="548640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280160"/>
            <a:ext cx="548640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80160"/>
            <a:ext cx="54864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44751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核心形式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883664"/>
            <a:ext cx="510235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Nᵥ：溫度、濕度、照度各自的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顆角落感測器建立的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溫度處理熱交換與垂直分層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濕度處理除濕與外氣水氣交換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照度處理光源幾何、遮蔽與反射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2" y="1316736"/>
            <a:ext cx="475488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475488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28016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444751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設計理由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2824" y="1883664"/>
            <a:ext cx="437083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避免只有冷氣附近變冷、全室仍近乎不變的不合理情況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版本都失敗過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避免把同一組 bulk/local 公式硬套到三種物理量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 CFD 輕量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比純插值更可解釋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適合控制導向與即時服務化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方法選擇：為什麼不是純插值、純物理或純黑盒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純插值不足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只看距離與感測點數值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不知道冷氣出風口、窗戶方向、燈具位置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照度與局部熱區容易被抹平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適合作 baseline，不適合作主模型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完整物理太重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CFD / ray tracing 需要更多邊界條件與計算成本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一般房間很難取得精確材質、風場與設備曲線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本研究目標是控制導向與即時服務化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因此採 reduced-order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純黑盒風險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小資料下容易過擬合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難解釋設備、邊界與空間位置的作用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hybrid residual 只學剩餘誤差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保留主模型的可解釋結構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547" y="1005840"/>
            <a:ext cx="9112144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MCP 不做預測；核心模型負責場估計、校正與排序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initialize：註冊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AC state：模式、目標溫度、風量、水平/垂直角度與擺動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sample point：補足非感測點、可指定 elapsed/steady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learn impacts：start/finish before-after record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window direct：輸入外部資料，不走 48 組 preset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rank actions：以指定座標 sample 與 T/H/L 目標評估註冊設備操作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Gemma / Ollama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Gemma 透過 bridge 做 tool calling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支援來自主機與 runtime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不是宣稱模型原生支援 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時間軸與播放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裝置/家具模組化調整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estimator toggle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learn_impacts：動作如何成為資料記錄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1. start：操作狀態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device_name：ac_main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device_state：activation、kind、power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 state：mode、setpoint、fan、風向、swing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合併成 device_specs 並更新 runtime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2. record：情境快照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learning_record_id + status=RECORDING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baseline、outdoor boundary、elapsed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furniture / obstruction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before_observations：sensor -&gt; T/H/L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optional note 與 sample point 預測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27101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39903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3. finish：轉成係數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3794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after_observations：同一批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Delta y = after - before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influence envelope 作為 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least squares 解 metric coefficients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 learned_device_impacts 與 sensor MAE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驗證設計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1741"/>
            <a:ext cx="5486400" cy="30002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325880"/>
            <a:ext cx="475488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E1-E3：truth-adjusted simulation、IDW、synthetic ablation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E4-E6：裝置影響學習、48 組 window matrix、hybrid no-Fourier/LOO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E7：bedroom_01 28 筆快照與 pillow 位置比較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E8：推薦動作 before/after intervention protocol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E9：public datasets；E10：controlled filtering；E11A：BMC temporal transfer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Web demo 與 3D 展示是呈現層，不列為量化實驗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證據鏈與驗證範圍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Synthetic full-field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支援完整 3D 場誤差比較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可比較 IDW、base、ablation、hybrid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限制：truth 仍來自受控生成與調整，不等同長期真實場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4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Real-bedroom snapshot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支援稀疏感測校正的真實點位檢查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pillow hold-out 不參與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限制：不是 dense real-room ground truth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73952" y="1271016"/>
            <a:ext cx="260604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1234440"/>
            <a:ext cx="260604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1234440"/>
            <a:ext cx="26060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399032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Public datasets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1837944"/>
            <a:ext cx="222199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支援相容子任務比較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SML2010 / CU-BEMS 只做 task-aligned benchmark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限制：缺單房間幾何與 8 點拓樸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62872" y="1271016"/>
            <a:ext cx="246888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246888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1234440"/>
            <a:ext cx="2468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19" y="139903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Recommendation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7464" y="1837944"/>
            <a:ext cx="208483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目前可做反事實排序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E8 定義介入驗證 protocol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限制：尚未完成真實 before/after 因果驗證</a:t>
            </a:r>
          </a:p>
        </p:txBody>
      </p:sp>
      <p:sp>
        <p:nvSpPr>
          <p:cNvPr id="2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情境設計與輸入模式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idle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ac_only / window_only / light_only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ac_window / window_light / ac_light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all_active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四季 × 天氣 × 時段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34 組範圍內／14 組範圍外壓力測試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也支援 direct outdoor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可分析窗邊區與中心區差異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 scenario 都有 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近似一階動態收斂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端可播放到 quasi-steady state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主要量化結果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29184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29184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290779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2.0269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19856"/>
            <a:ext cx="3291840" cy="2194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383280"/>
            <a:ext cx="329184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8328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47872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圖表資料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3986784"/>
            <a:ext cx="2907792" cy="1426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8 scenarios, full 3D grid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Y axis: log-scale Field MAE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Bars: IDW / Base / Pure RNN / LOO Hybrid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uses same 8 corner readings</a:t>
            </a:r>
          </a:p>
        </p:txBody>
      </p:sp>
      <p:pic>
        <p:nvPicPr>
          <p:cNvPr id="15" name="Picture 1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078" y="1143000"/>
            <a:ext cx="6213763" cy="29718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33672" y="4288536"/>
            <a:ext cx="7040880" cy="15544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4251960"/>
            <a:ext cx="704088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0" y="4251960"/>
            <a:ext cx="7040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416552"/>
            <a:ext cx="6675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真實臥室校正檢查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8264" y="4855464"/>
            <a:ext cx="6656832" cy="7863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Raw pillow MAE: T=0.8967, H=4.1286, L=309.0142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Corrected pillow MAE: T=0.1676, H=0.3939, L=16.6450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20,000 次 date-block bootstrap：三因子 MAE 降幅 95% CI 下界皆 &gt;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逐日剔除最小降幅 T/H/L：0.6123 / 3.5551 / 290.5716</a:t>
            </a:r>
          </a:p>
        </p:txBody>
      </p:sp>
      <p:sp>
        <p:nvSpPr>
          <p:cNvPr id="2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真實臥室快照與推薦驗證狀態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E7：real-bedroom sparse calibration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28 snapshots；pillow 不參與 8 角點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Raw → corrected MAE: T=0.8967, H=4.1286, L=309.0142 → T=0.1676, H=0.3939, L=16.6450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Paired bootstrap：20,000 次，以 7 個 date blocks 重抽樣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95% CI (T/H/L reduction):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[0.4582, 1.0232] / [3.2005, 4.2524] / [288.3083, 297.0237]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改善快照：T 26/28；H/L 28/28；仍非 dense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7-fold 逐日剔除最小降幅：T 0.6123；H 3.5551；L 290.5716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E8：recommendation validation protocol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 rank actions 是模型反事實重跑後的 penalty reduction 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versioned schema、空白 trial template 與 deterministic analyzer 已完成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完成真實介入 trials：0；status：NOT_EVALUATED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所有 efficacy estimates 維持 null；synthetic tests 只驗證公式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正式驗證仍須 before/after intervention 與 matched controls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3D 視覺化結果</a:t>
            </a:r>
          </a:p>
        </p:txBody>
      </p:sp>
      <p:pic>
        <p:nvPicPr>
          <p:cNvPr id="5" name="Picture 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51584"/>
            <a:ext cx="3657600" cy="3629152"/>
          </a:xfrm>
          <a:prstGeom prst="rect">
            <a:avLst/>
          </a:prstGeom>
        </p:spPr>
      </p:pic>
      <p:pic>
        <p:nvPicPr>
          <p:cNvPr id="6" name="Picture 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751584"/>
            <a:ext cx="3657600" cy="3629152"/>
          </a:xfrm>
          <a:prstGeom prst="rect">
            <a:avLst/>
          </a:prstGeom>
        </p:spPr>
      </p:pic>
      <p:pic>
        <p:nvPicPr>
          <p:cNvPr id="7" name="Picture 6" descr="ac_only_temperatur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751584"/>
            <a:ext cx="3657600" cy="3629152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Pure RNN 與 Hybrid Residual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475488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475488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Robustness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37083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MAE: T=0.0020, H=0.0051,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MAE: T=0.0021, H=0.0057,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Pure RNN LOO: T=0.2091, H=0.2241, L=48.1422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MAE: T=0.0017, H=0.0059, L=0.1407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96.66%, L 93.06%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72208"/>
            <a:ext cx="5577840" cy="26676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0" y="4160520"/>
            <a:ext cx="5303520" cy="1554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no-Fourier 對照顯示照度改善不是頻域處理造成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降低單一 held-out split 過度樂觀的風險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Pure RNN 直接預測完整場、不使用 physics estimate；lowest MAE 0/24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結果仍限標準情境 family，不等同任意房間泛化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真實臥室快照已驗證 calibration，推薦有效性仍需介入實驗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公開資料任務拆解：SML2010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S1 / S2 / S3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SML2010 24 任務：12 lowest MAE、15 勝 LR、14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原 E9：S1 照度弱；S2 混合；S3 event delta 最強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Oh-inspired：15min 兩點 T 最佳；本研究 readout 在 60min 最佳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24h 兩點 T 皆由 persistence 最佳；transfer 亦劣於 raw physics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次日 primary 選中 trend 但 test 惡化 7.34% / 8.36%，CI 均跨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Post-primary adaptive 亦惡化；未建立 next-day advantage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RNN 公平比較：12/12 parity 通過；lowest MAE 為 sequence LR 7、persistence 5、RNN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Kalman controlled filtering：12/12 parity；MA(3) 與 Linear Kalman 各 lowest MAE 6 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資料 confidential；只稱 method transfer，不稱原文重現或 full 3D 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公開資料任務拆解：CU-BEMS</a:t>
            </a:r>
          </a:p>
        </p:txBody>
      </p:sp>
      <p:pic>
        <p:nvPicPr>
          <p:cNvPr id="5" name="Picture 4" descr="cu_bems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C1 / C2 / C3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C1：AC 溫濕度可補強 LR，但不勝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C2：商辦照度與單房間假設差距大，是劣勢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C3：compound event 可穩定勝過 LR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CU-BEMS 12 任務：9 勝 LR、0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結果是 zone-level 外部壓力測試，不是 8 點房間拓樸驗證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結論、限制與未來工作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單房間三因子數位孿生原型已可運作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可估場、可校正、可學習、可推薦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bedroom_01 快照顯示校正後 pillow 點 MAE 明顯下降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資料比較需依任務層級切分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hybrid residual 泛化仍需更多房間與 dense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與 Web 展示已完成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限制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已有小型真實臥室快照，但仍缺長期 dense field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hybrid 目前只支持標準情境 family 內殘差可學習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不是 CFD 等級模型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公開資料集缺乏 full-field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室內溫度適用範圍限 20–30 °C；人體舒適以 tolerance 判定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固定 RNN 同資料比較 lowest MAE 為 0/12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Kalman 只完成 injected-noise current-time filtering；溫度 MA(3) 較佳、濕度 Kalman 較佳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推薦動作尚未完成真實介入式因果驗證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擴大長期資料、dense ground truth 與 multi-zone 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GRU / LSTM：同資料簡易比較完成；GRU 2/12、LSTM 0/12 勝 vanilla，無候選通過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PID：同 plant / setpoint / disturbance 閉環 baseline（尚未評估）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機箱 E11A/E11B 為負向；E11C aggregate 改善但 sensor wins 21/42，仍未達門檻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補足 PPFD/CO2/基質與生物 endpoint 後再評估動態植物生長情境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以獨立 reference 做實體 sensor filtering，再評估 EKF/UKF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公式與指標整理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三因子場與查詢點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總估計式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indoor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高度正規化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設備 activation 與 envelope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三因子公式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溫度：全室熱響應 + 局部熱場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濕度：除濕 + 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重點是三種物理量不共用同一套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校正與評估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參數 trilinear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可表示空間與平滑 residual 誤差界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非連網裝置影響學習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residual、MAE/RMSE/correlation、IDW、推薦排序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其他採樣點為模型估計值，非直接量測值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數值例：p=(2,1,1.2), t=10 min → (T,H,L)=(27.4°C,60%,280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=27.0, 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=26.6°C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數值例：b₀=(29°C,67%,90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ref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baseline 資料來源需在情境設定中明確標示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數值例：ΣT=232°C, |S|=8 → T₀=29°C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數值例：z=1.2 m, Hᵣ=3 m → ζ=-0.1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數值例：a=1, t=10, τ=10 → A=1-e^-1=0.632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數值例：A=0.8,R=0.5,D=0.9,V=1 → E=0.36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T₀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數值例：29-1.2-0.5+0.2(-0.1)=27.28°C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燈具在溫度模型中代表發熱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=-1.0+0.2+0.1=-0.7°C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 表示全室趨勢，S 表示出風口附近差異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數值例：s=-1,k=0.8,d=3,P=1,A=0.5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數值例：k=0.05,T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-T₀=4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=+0.20°C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clip[0,100]{H₀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-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數值例：clip[0,100](67-5+1-0.2)=62.8%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數值例：-0.4×10×0.5 + 0.02×8=-1.84%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max{0, L₀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照度由燈具光束、窗戶、遮蔽與反射決定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數值例：max(0,90+250+120+40+30)=530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sol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sol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Φ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Φ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：由光束角推得的 cosine 方向權重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：參考距離正規化後的距離衰減；V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：遮蔽或可見性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數值例：500×1×0.8×0.5×0.4×1=80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ρ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Ī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ʳᵉˡ exp(-||p-c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||/ℓ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·r̂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→p)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主要用途是改善照度空間趨勢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不等同精密光學模擬等級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數值例：0.6×200×0.5×0.4×0.8×1=19.2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係數會依變數 v 與當次感測校正狀態而定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數值例：X=Y=Z=0.5 → C=0.375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Oᵥ(p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 - Nᵥ(p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=27.2,N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 → r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a,b,c∈B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(X)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(Y)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(Z), B={0,1}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數值例：中心點權重各 1/8，Σr=1.6 → C=0.2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 = Oᵥ(p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correction 在角點與觀測一致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適用於主要空間趨勢估計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不等同無條件還原任意真實室內場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=26.8,C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並非所有室內場都必然三線性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平滑但非三線性的 residual 可由誤差界描述接近程度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突發局部熱源、光斑或遮蔽尖峰需額外資料補強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此條件界定模型適用範圍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數值例：R=0.2+0.3X+0.1Y，(0.5,0.5,0)→0.40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這個上界在衡量什麼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|Rᵥ-Cᵥ| ≤ W²M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xx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L²M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H²M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zz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左邊：某個未量測點的 residual 可能補錯多少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xx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≥ max|∂²Rᵥ/∂x²|：x 方向曲率上界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yy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zz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同理對應 y/z 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 越大，補間跨度越長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為什麼會這樣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xx 表示對 x 微分兩次，不是 x×x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線性補間用端點連線近似中間曲線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若 residual 是直線，二階導數為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曲率越大，中間點越可能偏離直線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三線性補間是 x/y/z 三方向線性補間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平滑 residual 可控；尖峰或光斑需更多資料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數值例：W=6,L=4,H=3,M=(0.01,0.02,0.01) → bound≈0.096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before/after 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ᵃᶠᵗᵉʳ -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ᵇᵉᶠᵒʳᵉ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X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i,k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：第 i 個感測點對第 k 個裝置 envelope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≈ X 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同一筆 record 綁定裝置狀態、baseline 與 outdoor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least-squares 估計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argmin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β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||Δy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Xβ||²₂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：裝置對第 m 個因子的影響係數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X：由 influence envelope 組成的設計矩陣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觀測提供真實操作造成的差異訊號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多事件重疊時係數代表混合效果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數值例：X=[1,0.5], Δy=[-0.8,-0.4] → β=-0.8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hybrid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預測推廣：ŷ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)=ŷ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phys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)+ê(t+h|I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 是 lead time；兩項對齊同一 target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physics 有 t+h：主模型須預測目標時刻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只含 t 時可得資訊；禁止未來觀測 leakage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本研究目前為 current-state spatial estimate，即 h=0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數值例：F=27.0,R=-0.3 → F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- Rᵥ(pᵢ,tᵢ;θᵥ)||² 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數值例：errors=(0.2,-0.1), λ||θ||²=0.01 → ℒ=0.035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 = cov(ŷ,y)/(σ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ŷ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ŷᵢ：模型估計值；yᵢ：truth 或觀測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數值例：ŷ=[1,2,3], y=[1,2,4] → MAE=0.33, RMSE=0.58, Corr≈0.98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/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比較基準理由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數值例：O=(26,30), d=(1,3), q=2 → IDW≈26.4°C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(S)= (1/K)Σ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P(q)=Σ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max(0,(|q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-g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|-δ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)/δ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Score(a)=P(q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base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)-P(q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驗證限制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 是推薦評估的 sample scope 或目標區域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是目標值，δ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是容許範圍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base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=30,g=26,δ=2 → P=1；q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=27 → P=0；Score=1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