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2026-10-05 完成 CPU/GPU 雙熱節點與風扇延遲的受限制 MPC 探索性模擬。calibration 後鎖定控制器，另跑 36 回合、4,320 個控制步，涵蓋 validation、holdout、模型失配與過載。holdout 的三 seed macro tracking MAE 為固定風扇 5.4378°C、PID 2.6034°C、MPC 1.4426°C，MPC 相對 PID 降低 44.59%。nominal 六個 MPC 回合均無 PWM／slew 違例、超溫或求解回退。</a:t>
            </a:r>
          </a:p>
          <a:p>
            <a:r>
              <a:t>代價是 holdout 風扇能耗 proxy 由 PID 0.5873 Wh 增至 MPC 0.8234 Wh，PWM total variation 亦增加。過載仍超溫，MPC 平均每回合 63.33 步求解回退；溫度為軟限制，不能視為安全保證。參數、負載與功耗曲線均為假設，plant 與 predictor 雖採不同數值積分，仍共享名義熱參數。本結果只支持假設模型內的探索性可行性與追蹤改善，不代表機箱辨識、NTC、實體控制、throttling、整機功耗或跨設備確認。E8 保持 NOT_EVALUATED，LQR 保持 TODO。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2026-10-05 第二階段完成四方法假設模型探索性比較，共 48 回合、5,760 控制步。每方法依相同三個 calibration seeds 評估三個候選，選參後凍結，再開啟新的 validation、holdout、假設模型變體與過載。holdout 三 seed 等權 tracking MAE：固定風扇 2.9051°C、PID＋平衡點前饋 1.7713°C、經限制的 LQR 1.7304°C、受限制 MPC 1.8071°C。相同方法順序的風扇能耗 proxy 為 0.7200／0.9832／1.0034／1.0567 Wh。研究判準：H-CTRL-01=SUPPORTED_SIMULATION_ONLY；H-CTRL-02=NOT_SUPPORTED；H-CTRL-03=NOT_SUPPORTED。</a:t>
            </a:r>
          </a:p>
          <a:p>
            <a:r>
              <a:t>固定風扇：取樣超溫 1096.7 s、數值回退 0.00 步／回合；PID＋平衡點前饋：取樣超溫 1040.0 s、數值回退 0.00 步／回合；經限制的 LQR：取樣超溫 1126.7 s、數值回退 0.00 步／回合；受限制 MPC：取樣超溫 1040.0 s、數值回退 0.00 步／回合</a:t>
            </a:r>
          </a:p>
          <a:p>
            <a:r>
              <a:t>四方法使用相同候選評估回合預算，CPU 計算時間並不相等。PID＋前饋、LQR 與 MPC 知道名義假設參數，且完整狀態可見；數值積分方式不同不等於獨立物理驗證。plant_holdout 是三組預先指定的假設參數變體，不能支持跨實體設備泛化。新合成 seeds 也不是實體設備樣本。超溫秒數按每 10 秒末端取樣估計；風扇能耗採 10u³ W 假設，不能代替整機功耗。溫度限制為軟限制，求解成功不代表熱能力足夠或硬體安全。實體機箱、NTC、throttling、整機功耗與 E8 仍為 NOT_EVALUATED。舊 v1 報告中的 LQR TODO 是第一階段的歷史狀態。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2026-10-06 依教授交辦查證金屬傳熱與風管場景，建立熱源／金屬片／空氣熱網路候選原型，以金屬片、空氣與風扇觀測估測未提供的熱源溫度。三組假設平台採相同有限辨識程序，完成 108 回合、19,440 步。新的合成 holdout 上，名義物理／辨識物理／稀疏校正熱源估測 MAE 為 0.9610/0.6580/0.3352°C；稀疏校正相對辨識物理減少 49.06%，6/6 組改善。固定／PI／PID／單步排序／六步排序／六步無校正的 tracking MAE 為 1.5458/1.2219/1.2221/1.3969/1.2708/1.3644°C。六步相對單步減少 9.03%，仍未優於 PI；六步排序平均取樣超溫 103.33 秒／回合。H-ENC-31／H-ENC-32 只在此 exploratory simulation 的事前判準內 supported。</a:t>
            </a:r>
          </a:p>
          <a:p>
            <a:r>
              <a:t>本輪為溫度子問題與假設熱網路：已知熱容量和部分係數，單一方程家族、三組指定參數與合成噪聲。金屬片／風管增益是假設，未量測實際裝置；有限候選排序不是 LQR 或完整 MPC。20–30°C 外的樣本完整保留，但不擴張原室內模型適用域。濕度、光照、三維空間場、完整三因子遷移與實體辨識／介入均未評估。</a:t>
            </a:r>
          </a:p>
          <a:p>
            <a:r>
              <a:t>獨立審查後，我修正原始金屬片／空氣觀測可能被濾波掩蓋的警告判斷，並加上時間、真值連續性與獨立熱動態核對。原 108 回合通過加強核對；新版原始感測警告在既有 72 回合輸入回放中，命令與警告均無變化。這是已開啟資料的回歸檢查，未新增閉迴路或未見確認結果。另做事後散熱能力分析：接觸較差平台在入口 22°C、總熱量 3.35W 與全速風扇下，熱源平衡點為 32.40°C。該平台六步 holdout 的 360 步中，150 步的當下輸入若維持到穩態，全速平衡點仍高於 30°C；實際取樣超溫則為 124 步。兩者不能混用；穩態分析不是有限時域不可行證明，也未改原假設判準，應分開解釋散熱能力與控制誤差。</a:t>
            </a:r>
          </a:p>
          <a:p>
            <a:r>
              <a:t>已為下週準備 LQR 與 Kalman (1960) Contributions to the Theory of Optimal Control 的介紹。重點查閱原文問題、狀態精確已知假設、可控／可觀測與 Riccati／穩定定理敘述；未重證全部證明，亦尚未口頭報告。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我把機箱溫度候選流程接入正式 Python 套件的獨立機箱介面，整合量測 CSV、有限參數辨識、稀疏估測、LQR／線性 MPC 與候選排序。新的四組假設平台共 88 回合、10,560 步，以相同 900 秒校正辨識接觸熱導、風扇對流增益、共同熱容量倍率與風扇延遲；固定容量比例和其他係數仍是假設。holdout 包含不同比例的熱容量與模型沒有的熱源直接傳到空氣路徑，所有方法只取得金屬片、空氣、風扇、入口與功率。名義／辨識／稀疏校正估測 MAE 為 1.0086/0.4681/0.3689°C。平均稀疏校正改善 21.19%，但只有 2/4 組改善，未達 3/4 判準，因此 H-ENC-51 不支持。</a:t>
            </a:r>
          </a:p>
          <a:p>
            <a:r>
              <a:t>固定／PI／PID／LQR／線性 MPC／單步／六步／六步無校正追蹤 MAE 為 1.7310/1.3471/1.3472/1.4872/1.3695/1.3764/1.3755/1.3943°C。六步相對單步改善 0.069%，未達 5%，H-ENC-52 不支持；PI 追蹤誤差低於六步排序，線性 MPC 的風扇能耗 proxy 較低但追蹤稍差。六步平均取樣超溫 3.75 秒／回合，全部閉迴路命令違例為零。這些是不同閉迴路軌跡下的比較；不能把命令合規當成真實安全。</a:t>
            </a:r>
          </a:p>
          <a:p>
            <a:r>
              <a:t>此次完成軟體流程、探索性模擬及實機實驗準備。相同有限校正是 commissioning-assisted synthetic transfer，並非零樣本或真實跨設備驗證；額外傳熱路徑只有一個指定反例，不證明任意方程家族泛化。LQR 經限幅後不再主張無限制最優性，MPC 使用當下線性化、六步預測與軟溫度代價。風扇 proxy 不是量測能耗。原室內濕度／照度和三維場維持原方法，未完成機箱三因子遷移；使用者於 2026-10-12 確認尚無設備或資料，實體辨識、NTC 精度與控制介入保留 NOT_EVALUATED；口頭報告尚無完成紀錄。</a:t>
            </a:r>
          </a:p>
          <a:p>
            <a:r>
              <a:t>全部 88 回合、10,560 筆已重算指標，核對時間、合成噪聲、原始感測警告、獨立熱動態與只讀觀測的流程回放；372 個歷史研究檔案未改動，一次性 E15 沒有重跑。時間偏移、同步真值偏移、風扇端點、原始觀測與指標五種破壞案例均被拒絕。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單房間非連網家電環境影響學習之稀疏感測空間數位孿生原型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碩士論文簡報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3657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研究生：林昀佑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指導教授：易昶霈教授、沈慧宇副教授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國立彰化師範大學資訊工程學系碩士班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主題：單房間三因子數位孿生、非連網裝置影響學習、工具化服務介面</a:t>
            </a:r>
          </a:p>
        </p:txBody>
      </p:sp>
      <p:pic>
        <p:nvPicPr>
          <p:cNvPr id="7" name="Picture 6" descr="整體分層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32561"/>
            <a:ext cx="5120640" cy="2867197"/>
          </a:xfrm>
          <a:prstGeom prst="rect">
            <a:avLst/>
          </a:prstGeom>
        </p:spPr>
      </p:pic>
      <p:sp>
        <p:nvSpPr>
          <p:cNvPr id="8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報告流程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93776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45"/>
              </a:spcAft>
              <a:defRPr sz="2100">
                <a:solidFill>
                  <a:srgbClr val="1E2733"/>
                </a:solidFill>
                <a:latin typeface="Noto Sans TC"/>
              </a:defRPr>
            </a:pPr>
            <a:r>
              <a:rPr sz="2100" b="0">
                <a:solidFill>
                  <a:srgbClr val="1E2733"/>
                </a:solidFill>
                <a:latin typeface="Noto Sans TC"/>
              </a:rPr>
              <a:t>1. 問題背景與研究動機</a:t>
            </a:r>
          </a:p>
          <a:p>
            <a:pPr>
              <a:lnSpc>
                <a:spcPct val="112000"/>
              </a:lnSpc>
              <a:spcAft>
                <a:spcPts val="945"/>
              </a:spcAft>
              <a:defRPr sz="2100">
                <a:solidFill>
                  <a:srgbClr val="1E2733"/>
                </a:solidFill>
                <a:latin typeface="Noto Sans TC"/>
              </a:defRPr>
            </a:pPr>
            <a:r>
              <a:rPr sz="2100" b="0">
                <a:solidFill>
                  <a:srgbClr val="1E2733"/>
                </a:solidFill>
                <a:latin typeface="Noto Sans TC"/>
              </a:rPr>
              <a:t>2. 文獻定位與研究缺口</a:t>
            </a:r>
          </a:p>
          <a:p>
            <a:pPr>
              <a:lnSpc>
                <a:spcPct val="112000"/>
              </a:lnSpc>
              <a:spcAft>
                <a:spcPts val="945"/>
              </a:spcAft>
              <a:defRPr sz="2100">
                <a:solidFill>
                  <a:srgbClr val="1E2733"/>
                </a:solidFill>
                <a:latin typeface="Noto Sans TC"/>
              </a:defRPr>
            </a:pPr>
            <a:r>
              <a:rPr sz="2100" b="0">
                <a:solidFill>
                  <a:srgbClr val="1E2733"/>
                </a:solidFill>
                <a:latin typeface="Noto Sans TC"/>
              </a:rPr>
              <a:t>3. 系統架構與數學模型</a:t>
            </a:r>
          </a:p>
          <a:p>
            <a:pPr>
              <a:lnSpc>
                <a:spcPct val="112000"/>
              </a:lnSpc>
              <a:spcAft>
                <a:spcPts val="945"/>
              </a:spcAft>
              <a:defRPr sz="2100">
                <a:solidFill>
                  <a:srgbClr val="1E2733"/>
                </a:solidFill>
                <a:latin typeface="Noto Sans TC"/>
              </a:defRPr>
            </a:pPr>
            <a:r>
              <a:rPr sz="2100" b="0">
                <a:solidFill>
                  <a:srgbClr val="1E2733"/>
                </a:solidFill>
                <a:latin typeface="Noto Sans TC"/>
              </a:rPr>
              <a:t>4. 感測器校正、影響學習與 hybrid residual</a:t>
            </a:r>
          </a:p>
          <a:p>
            <a:pPr>
              <a:lnSpc>
                <a:spcPct val="112000"/>
              </a:lnSpc>
              <a:spcAft>
                <a:spcPts val="945"/>
              </a:spcAft>
              <a:defRPr sz="2100">
                <a:solidFill>
                  <a:srgbClr val="1E2733"/>
                </a:solidFill>
                <a:latin typeface="Noto Sans TC"/>
              </a:defRPr>
            </a:pPr>
            <a:r>
              <a:rPr sz="2100" b="0">
                <a:solidFill>
                  <a:srgbClr val="1E2733"/>
                </a:solidFill>
                <a:latin typeface="Noto Sans TC"/>
              </a:rPr>
              <a:t>5. 實作系統、驗證設計與實驗結果</a:t>
            </a:r>
          </a:p>
          <a:p>
            <a:pPr>
              <a:lnSpc>
                <a:spcPct val="112000"/>
              </a:lnSpc>
              <a:spcAft>
                <a:spcPts val="945"/>
              </a:spcAft>
              <a:defRPr sz="2100">
                <a:solidFill>
                  <a:srgbClr val="1E2733"/>
                </a:solidFill>
                <a:latin typeface="Noto Sans TC"/>
              </a:defRPr>
            </a:pPr>
            <a:r>
              <a:rPr sz="2100" b="0">
                <a:solidFill>
                  <a:srgbClr val="1E2733"/>
                </a:solidFill>
                <a:latin typeface="Noto Sans TC"/>
              </a:rPr>
              <a:t>6. 結論、限制、未來工作與公式整理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論文整體邏輯：問題、方法、證據與結論邊界</a:t>
            </a:r>
          </a:p>
        </p:txBody>
      </p:sp>
      <p:pic>
        <p:nvPicPr>
          <p:cNvPr id="5" name="Picture 4" descr="研究整體邏輯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17" y="1143000"/>
            <a:ext cx="9564604" cy="5257800"/>
          </a:xfrm>
          <a:prstGeom prst="rect">
            <a:avLst/>
          </a:prstGeom>
        </p:spPr>
      </p:pic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研究背景與問題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347472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47472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房間場景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3090672" cy="36210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真實房間通常只有少量感測器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但使用者關心的是整個空間的舒適度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不是單一點位數值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62456"/>
            <a:ext cx="347472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47472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非連網裝置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29384"/>
            <a:ext cx="3090672" cy="36210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冷氣、窗戶、照明常無 API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狀態不可直接讀取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卻持續改變溫度、濕度、照度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362456"/>
            <a:ext cx="347472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347472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核心需求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29384"/>
            <a:ext cx="3090672" cy="36210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重建全室三因子分布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學習裝置對環境的影響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在 sample/cluster + 三因子目標下支援推薦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研究問題與貢獻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62456"/>
            <a:ext cx="512064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512064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51206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475487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研究問題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29384"/>
            <a:ext cx="473659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RQ1：8 顆角落感測器能否重建單房間三因子空間場？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RQ2：能否從環境資料學習非連網裝置影響？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RQ3：sample/cluster 與三因子目標下能否排序控制動作？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RQ4：能否將模型封裝成 MCP 可查詢工具？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362456"/>
            <a:ext cx="539496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539496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539496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90472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主要貢獻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929384"/>
            <a:ext cx="501091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single-room three-factor spatial digital twin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power calibration + trilinear residual correction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non-networked appliance impact learning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hybrid residual + Fourier denoising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task-aligned public benchmark strategy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MCP / Gemma / Web 可互動原型</a:t>
            </a:r>
          </a:p>
        </p:txBody>
      </p:sp>
      <p:sp>
        <p:nvSpPr>
          <p:cNvPr id="1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文獻定位、研究缺口與比較原則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347472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47472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已有研究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309067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房間尺度 IEQ 實驗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有限感測器場重建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hybrid thermal model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建築 digital twin 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62456"/>
            <a:ext cx="347472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47472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常見不足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29384"/>
            <a:ext cx="309067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多只看熱環境或單雙因子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少處理非連網裝置學習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少將模型做成 AI 可查詢工具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多半不是單房間低成本原型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362456"/>
            <a:ext cx="347472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347472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本研究定位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29384"/>
            <a:ext cx="309067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single-room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limited corner sensors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temperature + humidity + illuminance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control-oriented + MCP-accessible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public datasets only for aligned subtasks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整體系統架構</a:t>
            </a:r>
          </a:p>
        </p:txBody>
      </p:sp>
      <p:pic>
        <p:nvPicPr>
          <p:cNvPr id="5" name="Picture 4" descr="整體分層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70401"/>
            <a:ext cx="5669280" cy="31743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371600"/>
            <a:ext cx="457200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圖 3-1 以 top-down tree 呈現系統責任邊界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情境與觀測層提供 room schema、8 點感測、外部邊界與時間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估測與學習層負責三因子場模型、校正、影響學習與 hybrid residual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服務與決策層暴露 scripts、Web、MCP/Gemma 與 point/zone/action 輸出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主要執行資料流</a:t>
            </a:r>
          </a:p>
        </p:txBody>
      </p:sp>
      <p:pic>
        <p:nvPicPr>
          <p:cNvPr id="5" name="Picture 4" descr="主要執行資料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0823"/>
            <a:ext cx="5394960" cy="29878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325880"/>
            <a:ext cx="4800600" cy="484632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765"/>
              </a:spcAft>
              <a:defRPr sz="1700">
                <a:solidFill>
                  <a:srgbClr val="1E2733"/>
                </a:solidFill>
                <a:latin typeface="Noto Sans TC"/>
              </a:defRPr>
            </a:pPr>
            <a:r>
              <a:rPr sz="1700" b="0">
                <a:solidFill>
                  <a:srgbClr val="1E2733"/>
                </a:solidFill>
                <a:latin typeface="Noto Sans TC"/>
              </a:rPr>
              <a:t>• scenario 或 direct input 先進入 service</a:t>
            </a:r>
          </a:p>
          <a:p>
            <a:pPr>
              <a:lnSpc>
                <a:spcPct val="112000"/>
              </a:lnSpc>
              <a:spcAft>
                <a:spcPts val="765"/>
              </a:spcAft>
              <a:defRPr sz="1700">
                <a:solidFill>
                  <a:srgbClr val="1E2733"/>
                </a:solidFill>
                <a:latin typeface="Noto Sans TC"/>
              </a:defRPr>
            </a:pPr>
            <a:r>
              <a:rPr sz="1700" b="0">
                <a:solidFill>
                  <a:srgbClr val="1E2733"/>
                </a:solidFill>
                <a:latin typeface="Noto Sans TC"/>
              </a:rPr>
              <a:t>• 套用 indoor baseline、裝置、家具與時間設定</a:t>
            </a:r>
          </a:p>
          <a:p>
            <a:pPr>
              <a:lnSpc>
                <a:spcPct val="112000"/>
              </a:lnSpc>
              <a:spcAft>
                <a:spcPts val="765"/>
              </a:spcAft>
              <a:defRPr sz="1700">
                <a:solidFill>
                  <a:srgbClr val="1E2733"/>
                </a:solidFill>
                <a:latin typeface="Noto Sans TC"/>
              </a:defRPr>
            </a:pPr>
            <a:r>
              <a:rPr sz="1700" b="0">
                <a:solidFill>
                  <a:srgbClr val="1E2733"/>
                </a:solidFill>
                <a:latin typeface="Noto Sans TC"/>
              </a:rPr>
              <a:t>• 再做場估測、感測器校正與 dashboard 輸出</a:t>
            </a:r>
          </a:p>
          <a:p>
            <a:pPr>
              <a:lnSpc>
                <a:spcPct val="112000"/>
              </a:lnSpc>
              <a:spcAft>
                <a:spcPts val="765"/>
              </a:spcAft>
              <a:defRPr sz="1700">
                <a:solidFill>
                  <a:srgbClr val="1E2733"/>
                </a:solidFill>
                <a:latin typeface="Noto Sans TC"/>
              </a:defRPr>
            </a:pPr>
            <a:r>
              <a:rPr sz="1700" b="0">
                <a:solidFill>
                  <a:srgbClr val="1E2733"/>
                </a:solidFill>
                <a:latin typeface="Noto Sans TC"/>
              </a:rPr>
              <a:t>• MCP 和 Web 都走同一條執行路徑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房間拓樸、感測器與目標區域</a:t>
            </a:r>
          </a:p>
        </p:txBody>
      </p:sp>
      <p:pic>
        <p:nvPicPr>
          <p:cNvPr id="5" name="Picture 4" descr="房間感測器與目標區域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90057"/>
            <a:ext cx="5486400" cy="31350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73952" y="1362456"/>
            <a:ext cx="470916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46520" y="1325880"/>
            <a:ext cx="470916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0" y="1325880"/>
            <a:ext cx="470916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90472"/>
            <a:ext cx="434340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固定研究設定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1929384"/>
            <a:ext cx="432511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房間：6 × 4 × 3 m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感測器：floor/ceiling 四角，共 8 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區域：window / center / door-side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核心裝置：ac_main / window_main / light_main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解析度：16 × 12 × 6</a:t>
            </a:r>
          </a:p>
        </p:txBody>
      </p:sp>
      <p:sp>
        <p:nvSpPr>
          <p:cNvPr id="11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模組化裝置與家具阻擋</a:t>
            </a:r>
          </a:p>
        </p:txBody>
      </p:sp>
      <p:pic>
        <p:nvPicPr>
          <p:cNvPr id="5" name="Picture 4" descr="可模組化裝置與家具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81609"/>
            <a:ext cx="5394960" cy="29691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325880"/>
            <a:ext cx="4800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765"/>
              </a:spcAft>
              <a:defRPr sz="1700">
                <a:solidFill>
                  <a:srgbClr val="1E2733"/>
                </a:solidFill>
                <a:latin typeface="Noto Sans TC"/>
              </a:defRPr>
            </a:pPr>
            <a:r>
              <a:rPr sz="1700" b="0">
                <a:solidFill>
                  <a:srgbClr val="1E2733"/>
                </a:solidFill>
                <a:latin typeface="Noto Sans TC"/>
              </a:rPr>
              <a:t>• 冷氣、窗戶、燈都可視為模組化裝置</a:t>
            </a:r>
          </a:p>
          <a:p>
            <a:pPr>
              <a:lnSpc>
                <a:spcPct val="112000"/>
              </a:lnSpc>
              <a:spcAft>
                <a:spcPts val="765"/>
              </a:spcAft>
              <a:defRPr sz="1700">
                <a:solidFill>
                  <a:srgbClr val="1E2733"/>
                </a:solidFill>
                <a:latin typeface="Noto Sans TC"/>
              </a:defRPr>
            </a:pPr>
            <a:r>
              <a:rPr sz="1700" b="0">
                <a:solidFill>
                  <a:srgbClr val="1E2733"/>
                </a:solidFill>
                <a:latin typeface="Noto Sans TC"/>
              </a:rPr>
              <a:t>• 家具是可開關、可移動的阻擋物件</a:t>
            </a:r>
          </a:p>
          <a:p>
            <a:pPr>
              <a:lnSpc>
                <a:spcPct val="112000"/>
              </a:lnSpc>
              <a:spcAft>
                <a:spcPts val="765"/>
              </a:spcAft>
              <a:defRPr sz="1700">
                <a:solidFill>
                  <a:srgbClr val="1E2733"/>
                </a:solidFill>
                <a:latin typeface="Noto Sans TC"/>
              </a:defRPr>
            </a:pPr>
            <a:r>
              <a:rPr sz="1700" b="0">
                <a:solidFill>
                  <a:srgbClr val="1E2733"/>
                </a:solidFill>
                <a:latin typeface="Noto Sans TC"/>
              </a:rPr>
              <a:t>• 阻擋效果會依幾何位置自適應調整</a:t>
            </a:r>
          </a:p>
          <a:p>
            <a:pPr>
              <a:lnSpc>
                <a:spcPct val="112000"/>
              </a:lnSpc>
              <a:spcAft>
                <a:spcPts val="765"/>
              </a:spcAft>
              <a:defRPr sz="1700">
                <a:solidFill>
                  <a:srgbClr val="1E2733"/>
                </a:solidFill>
                <a:latin typeface="Noto Sans TC"/>
              </a:defRPr>
            </a:pPr>
            <a:r>
              <a:rPr sz="1700" b="0">
                <a:solidFill>
                  <a:srgbClr val="1E2733"/>
                </a:solidFill>
                <a:latin typeface="Noto Sans TC"/>
              </a:rPr>
              <a:t>• Web 端可新增 custom devices 與 custom furniture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數學模型：變數專屬 nominal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16736"/>
            <a:ext cx="548640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48640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54864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44751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核心形式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83664"/>
            <a:ext cx="510235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F̂ᵥ(p,t) = Nᵥ(p,t) + Cᵥ(p,t)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Nᵥ：溫度、濕度、照度各自的 nominal model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Cᵥ：8 顆角落感測器建立的 residual correction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溫度處理熱交換與垂直分層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濕度處理除濕與外氣水氣交換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照度處理光源幾何、遮蔽與反射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8232" y="1316736"/>
            <a:ext cx="475488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475488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475488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44751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設計理由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1883664"/>
            <a:ext cx="437083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避免只有冷氣附近變冷、全室仍近乎不變的不合理情況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早期純插值與 local-only 版本都失敗過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避免把同一組 bulk/local 公式硬套到三種物理量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比 CFD 輕量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比純插值更可解釋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適合控制導向與即時服務化</a:t>
            </a:r>
          </a:p>
        </p:txBody>
      </p:sp>
      <p:sp>
        <p:nvSpPr>
          <p:cNvPr id="1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方法選擇：為什麼不是純插值、純物理或純黑盒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3520440" cy="45262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5204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純插值不足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3136392" cy="3758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IDW 只看距離與感測點數值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不知道冷氣出風口、窗戶方向、燈具位置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照度與局部熱區容易被抹平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適合作 baseline，不適合作主模型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62456"/>
            <a:ext cx="3520440" cy="45262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5204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9047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完整物理太重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29384"/>
            <a:ext cx="3136392" cy="3758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CFD / ray tracing 需要更多邊界條件與計算成本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一般房間很難取得精確材質、風場與設備曲線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本研究目標是控制導向與即時服務化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因此採 reduced-order nominal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362456"/>
            <a:ext cx="3474720" cy="45262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347472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純黑盒風險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29384"/>
            <a:ext cx="3090672" cy="3758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小資料下容易過擬合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難解釋設備、邊界與空間位置的作用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hybrid residual 只學剩餘誤差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保留主模型的可解釋結構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模型學習、推論與推薦資料流</a:t>
            </a:r>
          </a:p>
        </p:txBody>
      </p:sp>
      <p:pic>
        <p:nvPicPr>
          <p:cNvPr id="5" name="Picture 4" descr="模型學習推論與推薦資料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547" y="1005840"/>
            <a:ext cx="9112144" cy="5257800"/>
          </a:xfrm>
          <a:prstGeom prst="rect">
            <a:avLst/>
          </a:prstGeom>
        </p:spPr>
      </p:pic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系統實作與介面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352044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52044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MCP：工具化介面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313639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MCP 不做預測；核心模型負責場估計、校正與排序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initialize：註冊 scenario、baseline、外部邊界、設備/家具、時間與 estimator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AC state：模式、目標溫度、風量、水平/垂直角度與擺動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sample point：補足非感測點、可指定 elapsed/steady state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learn impacts：start/finish before-after record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window direct：輸入外部資料，不走 48 組 preset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rank actions：以指定座標 sample 與 T/H/L 目標評估註冊設備操作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62456"/>
            <a:ext cx="352044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52044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9047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Gemma / Ollama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29384"/>
            <a:ext cx="313639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Gemma 透過 bridge 做 tool calling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MCP 支援來自主機與 runtime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不是宣稱模型原生支援 MCP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362456"/>
            <a:ext cx="347472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347472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Web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29384"/>
            <a:ext cx="309067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可旋轉 3D 預覽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時間軸與播放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裝置/家具模組化調整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hybrid estimator toggle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learn_impacts：動作如何成為資料記錄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271016"/>
            <a:ext cx="352044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352044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39903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1. start：操作狀態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837944"/>
            <a:ext cx="313639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device_name：ac_main / window_main / light_main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device_state：activation、kind、power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AC state：mode、setpoint、fan、風向、swing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合併成 device_specs 並更新 runtime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271016"/>
            <a:ext cx="352044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352044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9903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2. record：情境快照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837944"/>
            <a:ext cx="313639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learning_record_id + status=RECORDING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baseline、outdoor boundary、elapsed time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furniture / obstruction state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before_observations：sensor -&gt; T/H/L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optional note 與 sample point 預測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271016"/>
            <a:ext cx="347472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347472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9903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3. finish：轉成係數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837944"/>
            <a:ext cx="309067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after_observations：同一批 sensors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Delta y = after - before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influence envelope 作為 X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least squares 解 metric coefficients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輸出 learned_device_impacts 與 sensor MAE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驗證設計</a:t>
            </a:r>
          </a:p>
        </p:txBody>
      </p:sp>
      <p:pic>
        <p:nvPicPr>
          <p:cNvPr id="5" name="Picture 4" descr="驗證與實驗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1741"/>
            <a:ext cx="5486400" cy="30002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325880"/>
            <a:ext cx="4754880" cy="484632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675"/>
              </a:spcAft>
              <a:defRPr sz="1500">
                <a:solidFill>
                  <a:srgbClr val="1E2733"/>
                </a:solidFill>
                <a:latin typeface="Noto Sans TC"/>
              </a:defRPr>
            </a:pPr>
            <a:r>
              <a:rPr sz="1500" b="0">
                <a:solidFill>
                  <a:srgbClr val="1E2733"/>
                </a:solidFill>
                <a:latin typeface="Noto Sans TC"/>
              </a:rPr>
              <a:t>• E1-E3：truth-adjusted simulation、IDW、synthetic ablation</a:t>
            </a:r>
          </a:p>
          <a:p>
            <a:pPr>
              <a:lnSpc>
                <a:spcPct val="112000"/>
              </a:lnSpc>
              <a:spcAft>
                <a:spcPts val="675"/>
              </a:spcAft>
              <a:defRPr sz="1500">
                <a:solidFill>
                  <a:srgbClr val="1E2733"/>
                </a:solidFill>
                <a:latin typeface="Noto Sans TC"/>
              </a:defRPr>
            </a:pPr>
            <a:r>
              <a:rPr sz="1500" b="0">
                <a:solidFill>
                  <a:srgbClr val="1E2733"/>
                </a:solidFill>
                <a:latin typeface="Noto Sans TC"/>
              </a:rPr>
              <a:t>• E4-E6：裝置影響學習、48 組 window matrix、hybrid no-Fourier/LOO</a:t>
            </a:r>
          </a:p>
          <a:p>
            <a:pPr>
              <a:lnSpc>
                <a:spcPct val="112000"/>
              </a:lnSpc>
              <a:spcAft>
                <a:spcPts val="675"/>
              </a:spcAft>
              <a:defRPr sz="1500">
                <a:solidFill>
                  <a:srgbClr val="1E2733"/>
                </a:solidFill>
                <a:latin typeface="Noto Sans TC"/>
              </a:defRPr>
            </a:pPr>
            <a:r>
              <a:rPr sz="1500" b="0">
                <a:solidFill>
                  <a:srgbClr val="1E2733"/>
                </a:solidFill>
                <a:latin typeface="Noto Sans TC"/>
              </a:rPr>
              <a:t>• E7：bedroom_01 28 筆快照與 pillow 位置比較</a:t>
            </a:r>
          </a:p>
          <a:p>
            <a:pPr>
              <a:lnSpc>
                <a:spcPct val="112000"/>
              </a:lnSpc>
              <a:spcAft>
                <a:spcPts val="675"/>
              </a:spcAft>
              <a:defRPr sz="1500">
                <a:solidFill>
                  <a:srgbClr val="1E2733"/>
                </a:solidFill>
                <a:latin typeface="Noto Sans TC"/>
              </a:defRPr>
            </a:pPr>
            <a:r>
              <a:rPr sz="1500" b="0">
                <a:solidFill>
                  <a:srgbClr val="1E2733"/>
                </a:solidFill>
                <a:latin typeface="Noto Sans TC"/>
              </a:rPr>
              <a:t>• E8：推薦動作 before/after intervention protocol</a:t>
            </a:r>
          </a:p>
          <a:p>
            <a:pPr>
              <a:lnSpc>
                <a:spcPct val="112000"/>
              </a:lnSpc>
              <a:spcAft>
                <a:spcPts val="675"/>
              </a:spcAft>
              <a:defRPr sz="1500">
                <a:solidFill>
                  <a:srgbClr val="1E2733"/>
                </a:solidFill>
                <a:latin typeface="Noto Sans TC"/>
              </a:defRPr>
            </a:pPr>
            <a:r>
              <a:rPr sz="1500" b="0">
                <a:solidFill>
                  <a:srgbClr val="1E2733"/>
                </a:solidFill>
                <a:latin typeface="Noto Sans TC"/>
              </a:rPr>
              <a:t>• E9：public datasets；E10：controlled filtering；E11A：BMC temporal transfer</a:t>
            </a:r>
          </a:p>
          <a:p>
            <a:pPr>
              <a:lnSpc>
                <a:spcPct val="112000"/>
              </a:lnSpc>
              <a:spcAft>
                <a:spcPts val="675"/>
              </a:spcAft>
              <a:defRPr sz="1500">
                <a:solidFill>
                  <a:srgbClr val="1E2733"/>
                </a:solidFill>
                <a:latin typeface="Noto Sans TC"/>
              </a:defRPr>
            </a:pPr>
            <a:r>
              <a:rPr sz="1500" b="0">
                <a:solidFill>
                  <a:srgbClr val="1E2733"/>
                </a:solidFill>
                <a:latin typeface="Noto Sans TC"/>
              </a:rPr>
              <a:t>• Web demo 與 3D 展示是呈現層，不列為量化實驗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證據鏈與驗證範圍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71016"/>
            <a:ext cx="27432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27432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27432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Synthetic full-field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37944"/>
            <a:ext cx="23591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支援完整 3D 場誤差比較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可比較 IDW、base、ablation、hybrid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限制：truth 仍來自受控生成與調整，不等同長期真實場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7872" y="1271016"/>
            <a:ext cx="27432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234440"/>
            <a:ext cx="27432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234440"/>
            <a:ext cx="27432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39903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Real-bedroom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1837944"/>
            <a:ext cx="23591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支援稀疏感測校正的真實點位檢查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pillow hold-out 不參與 fitting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限制：不是 dense real-room ground truth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3952" y="1271016"/>
            <a:ext cx="260604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234440"/>
            <a:ext cx="260604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234440"/>
            <a:ext cx="26060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399032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Public datasets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1837944"/>
            <a:ext cx="222199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支援相容子任務比較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SML2010 / CU-BEMS 只做 task-aligned benchmark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限制：缺單房間幾何與 8 點拓樸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62872" y="1271016"/>
            <a:ext cx="246888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234440"/>
            <a:ext cx="246888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234440"/>
            <a:ext cx="246888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139903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1837944"/>
            <a:ext cx="208483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目前可做反事實排序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E8 定義介入驗證 protocol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限制：尚未完成真實 before/after 因果驗證</a:t>
            </a:r>
          </a:p>
        </p:txBody>
      </p:sp>
      <p:sp>
        <p:nvSpPr>
          <p:cNvPr id="2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情境設計與輸入模式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347472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47472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標準情境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309067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idle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ac_only / window_only / light_only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ac_window / window_light / ac_light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all_active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62456"/>
            <a:ext cx="347472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47472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窗戶模式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29384"/>
            <a:ext cx="309067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四季 × 天氣 × 時段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34 組範圍內／14 組範圍外壓力測試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也支援 direct outdoor input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可分析窗邊區與中心區差異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362456"/>
            <a:ext cx="347472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347472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時間軸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29384"/>
            <a:ext cx="309067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所有 scenario 都有 elapsed time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近似一階動態收斂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Web 端可播放到 quasi-steady state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主要量化結果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16736"/>
            <a:ext cx="3291840" cy="1828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2918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32918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44751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平均 Field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883664"/>
            <a:ext cx="290779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Temperature: 0.0474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Humidity: 0.1765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Illuminance: 2.0269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3419856"/>
            <a:ext cx="3291840" cy="2194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329184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32918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547872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圖表資料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" y="3986784"/>
            <a:ext cx="2907792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8 scenarios, full 3D grid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Y axis: log-scale Field MAE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Bars: IDW / Base / Pure RNN / LOO Hybrid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IDW uses same 8 corner readings</a:t>
            </a:r>
          </a:p>
        </p:txBody>
      </p:sp>
      <p:pic>
        <p:nvPicPr>
          <p:cNvPr id="15" name="Picture 14" descr="field_ma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078" y="1143000"/>
            <a:ext cx="6213763" cy="2971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33672" y="4288536"/>
            <a:ext cx="7040880" cy="1554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4251960"/>
            <a:ext cx="70408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4251960"/>
            <a:ext cx="704088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416552"/>
            <a:ext cx="667512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真實臥室校正檢查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4855464"/>
            <a:ext cx="6656832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Raw pillow MAE: T=0.8967, H=4.1286, L=309.0142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Corrected pillow MAE: T=0.1676, H=0.3939, L=16.6450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20,000 次 date-block bootstrap：三因子 MAE 降幅 95% CI 下界皆 &gt; 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逐日剔除最小降幅 T/H/L：0.6123 / 3.5551 / 290.5716</a:t>
            </a:r>
          </a:p>
        </p:txBody>
      </p:sp>
      <p:sp>
        <p:nvSpPr>
          <p:cNvPr id="21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真實臥室快照與推薦驗證狀態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5257800" cy="45262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2578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E7：real-bedroom sparse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4873752" cy="3758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28 snapshots；pillow 不參與 8 角點 fitting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Raw → corrected MAE: T=0.8967, H=4.1286, L=309.0142 → T=0.1676, H=0.3939, L=16.6450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Paired bootstrap：20,000 次，以 7 個 date blocks 重抽樣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95% CI (T/H/L reduction):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[0.4582, 1.0232] / [3.2005, 4.2524] / [288.3083, 297.0237]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改善快照：T 26/28；H/L 28/28；仍非 dense truth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7-fold 逐日剔除最小降幅：T 0.6123；H 3.5551；L 290.5716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362456"/>
            <a:ext cx="5257800" cy="45262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2578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9047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E8：recommendation validation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929384"/>
            <a:ext cx="4873752" cy="3758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目前 rank actions 是模型反事實重跑後的 penalty reduction 排序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versioned schema、空白 trial template 與 deterministic analyzer 已完成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完成真實介入 trials：0；status：NOT_EVALUATED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所有 efficacy estimates 維持 null；synthetic tests 只驗證公式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正式驗證仍須 before/after intervention 與 matched controls</a:t>
            </a:r>
          </a:p>
        </p:txBody>
      </p:sp>
      <p:sp>
        <p:nvSpPr>
          <p:cNvPr id="1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3D 視覺化結果</a:t>
            </a:r>
          </a:p>
        </p:txBody>
      </p:sp>
      <p:pic>
        <p:nvPicPr>
          <p:cNvPr id="5" name="Picture 4" descr="all_active_temperatur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51584"/>
            <a:ext cx="3657600" cy="3629152"/>
          </a:xfrm>
          <a:prstGeom prst="rect">
            <a:avLst/>
          </a:prstGeom>
        </p:spPr>
      </p:pic>
      <p:pic>
        <p:nvPicPr>
          <p:cNvPr id="6" name="Picture 5" descr="window_only_illuminance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751584"/>
            <a:ext cx="3657600" cy="3629152"/>
          </a:xfrm>
          <a:prstGeom prst="rect">
            <a:avLst/>
          </a:prstGeom>
        </p:spPr>
      </p:pic>
      <p:pic>
        <p:nvPicPr>
          <p:cNvPr id="7" name="Picture 6" descr="ac_only_temperature_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751584"/>
            <a:ext cx="3657600" cy="3629152"/>
          </a:xfrm>
          <a:prstGeom prst="rect">
            <a:avLst/>
          </a:prstGeom>
        </p:spPr>
      </p:pic>
      <p:sp>
        <p:nvSpPr>
          <p:cNvPr id="8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Pure RNN 與 Hybrid Residual 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62456"/>
            <a:ext cx="475488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475488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475488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Robustness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29384"/>
            <a:ext cx="437083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Default samples: 576 / 192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Default MAE: T=0.0020, H=0.0051, L=0.1370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No-Fourier MAE: T=0.0021, H=0.0057, L=0.1370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Pure RNN LOO: T=0.2091, H=0.2241, L=48.1422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LOO avg MAE: T=0.0017, H=0.0059, L=0.1407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LOO reduction: T 96.41%, H 96.66%, L 93.06%</a:t>
            </a:r>
          </a:p>
        </p:txBody>
      </p:sp>
      <p:pic>
        <p:nvPicPr>
          <p:cNvPr id="10" name="Picture 9" descr="field_ma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72208"/>
            <a:ext cx="5577840" cy="26676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0" y="4160520"/>
            <a:ext cx="53035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no-Fourier 對照顯示照度改善不是頻域處理造成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LOO 降低單一 held-out split 過度樂觀的風險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Pure RNN 直接預測完整場、不使用 physics estimate；lowest MAE 0/24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LOO 結果仍限標準情境 family，不等同任意房間泛化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真實臥室快照已驗證 calibration，推薦有效性仍需介入實驗</a:t>
            </a:r>
          </a:p>
        </p:txBody>
      </p:sp>
      <p:sp>
        <p:nvSpPr>
          <p:cNvPr id="12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公開資料任務拆解：SML2010</a:t>
            </a:r>
          </a:p>
        </p:txBody>
      </p:sp>
      <p:pic>
        <p:nvPicPr>
          <p:cNvPr id="5" name="Picture 4" descr="sml2010_task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58" y="1188720"/>
            <a:ext cx="6199322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79792" y="1316736"/>
            <a:ext cx="3977639" cy="44348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52360" y="1280160"/>
            <a:ext cx="3977639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280160"/>
            <a:ext cx="3977639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444751"/>
            <a:ext cx="361187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S1 / S2 / S3 判讀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4384" y="1883664"/>
            <a:ext cx="3593591" cy="3666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SML2010 24 任務：12 lowest MAE、15 勝 LR、14 勝 persistence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原 E9：S1 照度弱；S2 混合；S3 event delta 最強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Oh-inspired：15min 兩點 T 最佳；本研究 readout 在 60min 最佳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24h 兩點 T 皆由 persistence 最佳；transfer 亦劣於 raw physics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次日 primary 選中 trend 但 test 惡化 7.34% / 8.36%，CI 均跨 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Post-primary adaptive 亦惡化；未建立 next-day advantage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RNN 公平比較：12/12 parity 通過；lowest MAE 為 sequence LR 7、persistence 5、RNN 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Kalman controlled filtering：12/12 parity；MA(3) 與 Linear Kalman 各 lowest MAE 6 項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資料 confidential；只稱 method transfer，不稱原文重現或 full 3D 驗證</a:t>
            </a:r>
          </a:p>
        </p:txBody>
      </p:sp>
      <p:sp>
        <p:nvSpPr>
          <p:cNvPr id="11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公開資料任務拆解：CU-BEMS</a:t>
            </a:r>
          </a:p>
        </p:txBody>
      </p:sp>
      <p:pic>
        <p:nvPicPr>
          <p:cNvPr id="5" name="Picture 4" descr="cu_bems_task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58" y="1188720"/>
            <a:ext cx="6199322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79792" y="1316736"/>
            <a:ext cx="3977639" cy="44348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52360" y="1280160"/>
            <a:ext cx="3977639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280160"/>
            <a:ext cx="3977639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444751"/>
            <a:ext cx="361187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C1 / C2 / C3 判讀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4384" y="1883664"/>
            <a:ext cx="3593591" cy="3666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C1：AC 溫濕度可補強 LR，但不勝 persistence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C2：商辦照度與單房間假設差距大，是劣勢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C3：compound event 可穩定勝過 LR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CU-BEMS 12 任務：9 勝 LR、0 勝 persistence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結果是 zone-level 外部壓力測試，不是 8 點房間拓樸驗證</a:t>
            </a:r>
          </a:p>
        </p:txBody>
      </p:sp>
      <p:sp>
        <p:nvSpPr>
          <p:cNvPr id="11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結論、限制與未來工作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352044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52044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313639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單房間三因子數位孿生原型已可運作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可估場、可校正、可學習、可推薦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bedroom_01 快照顯示校正後 pillow 點 MAE 明顯下降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資料比較需依任務層級切分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hybrid residual 泛化仍需更多房間與 dense ground truth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MCP 與 Web 展示已完成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62456"/>
            <a:ext cx="352044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52044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9047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29384"/>
            <a:ext cx="313639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已有小型真實臥室快照，但仍缺長期 dense field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LOO hybrid 目前只支持標準情境 family 內殘差可學習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不是 CFD 等級模型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公開資料集缺乏 full-field ground truth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室內溫度適用範圍限 20–30 °C；人體舒適以 tolerance 判定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固定 RNN 同資料比較 lowest MAE 為 0/12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Kalman 只完成 injected-noise current-time filtering；溫度 MA(3) 較佳、濕度 Kalman 較佳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推薦動作尚未完成真實介入式因果驗證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362456"/>
            <a:ext cx="347472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347472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90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未來工作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29384"/>
            <a:ext cx="309067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擴大長期資料、dense ground truth 與 multi-zone 驗證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GRU / LSTM：同資料簡易比較完成；GRU 2/12、LSTM 0/12 勝 vanilla，無候選通過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PID：同 plant / setpoint / disturbance 閉環 baseline（實體未評估；機箱假設模型已比較）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機箱 E11A/E11B 為負向；E11C aggregate 改善但 sensor wins 21/42，仍未達門檻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補足 PPFD/CO2/基質與生物 endpoint 後再評估動態植物生長情境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以獨立 reference 做實體 sensor filtering，再評估 EKF/UKF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000">
                <a:solidFill>
                  <a:srgbClr val="1E2733"/>
                </a:solidFill>
                <a:latin typeface="Noto Sans TC"/>
              </a:defRPr>
            </a:pPr>
            <a:r>
              <a:rPr sz="1000" b="0">
                <a:solidFill>
                  <a:srgbClr val="1E2733"/>
                </a:solidFill>
                <a:latin typeface="Noto Sans TC"/>
              </a:rPr>
              <a:t>• 執行推薦動作 before/after 介入驗證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公式與指標整理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16736"/>
            <a:ext cx="3520440" cy="45262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5204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44751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場模型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883664"/>
            <a:ext cx="3136392" cy="3758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三因子場與查詢點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總估計式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indoor baseline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高度正規化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設備 activation 與 envelope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16736"/>
            <a:ext cx="3520440" cy="45262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5204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44751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三因子公式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883664"/>
            <a:ext cx="3136392" cy="3758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溫度：全室熱響應 + 局部熱場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濕度：除濕 + 外氣水氣交換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照度：直射、環境光、一次漫反射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300">
                <a:solidFill>
                  <a:srgbClr val="1E2733"/>
                </a:solidFill>
                <a:latin typeface="Noto Sans TC"/>
              </a:defRPr>
            </a:pPr>
            <a:r>
              <a:rPr sz="1300" b="0">
                <a:solidFill>
                  <a:srgbClr val="1E2733"/>
                </a:solidFill>
                <a:latin typeface="Noto Sans TC"/>
              </a:rPr>
              <a:t>• 重點是三種物理量不共用同一套 nominal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316736"/>
            <a:ext cx="3474720" cy="45262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47472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44751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校正與評估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883664"/>
            <a:ext cx="3090672" cy="3758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8 參數 trilinear correction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可表示空間與平滑 residual 誤差界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非連網裝置影響學習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hybrid residual、MAE/RMSE/correlation、IDW、推薦排序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1：三因子場與查詢點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場的定義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T(p,t)：位置 p、時間 t 的溫度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H(p,t)：位置 p、時間 t 的相對濕度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L(p,t)：位置 p、時間 t 的照度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p = (x,y,z)，單位為公尺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 可代表啟動後時間、情境時間或 demo 時間軸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適用範圍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本研究不是只估單一平均值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輸出是三維空間中任意點的三個環境量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8 顆角落感測器只提供稀疏觀測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其他採樣點是由模型與校正場推估出來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其他採樣點為模型估計值，非直接量測值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數值例：p=(2,1,1.2), t=10 min → (T,H,L)=(27.4°C,60%,280 lux)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2：總估計式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主公式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F̂ᵥ(p,t) = Nᵥ(p,t) + Cᵥ(p,t)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v ∈ {T,H,L}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T：temperature；H：relative humidity；L：illuminance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Nᵥ：nominal model，描述主要物理趨勢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Cᵥ：8 顆角落感測器 residual 形成的校正場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為什麼這樣拆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 讓模型先有設備、邊界與空間結構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Cᵥ 讓模型對齊真實角落感測器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三個變數共用此估計框架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 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、N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H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、N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L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的物理項目分開設計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這能回應「不能把同一套 bulk/local 硬套三種物理量」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=27.0, C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=-0.4 → F̂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=26.6°C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3：Indoor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baseline 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b₀ = (T₀, H₀, L₀)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T₀：設備作用前的室內基準溫度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H₀：設備作用前的室內基準相對濕度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L₀：設備作用前的室內基準照度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若有啟動前觀測，可由 8 顆感測器平均取得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跟 baseline 比較法的差別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這裡的 baseline 是模型起始狀態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不是第 5 章的 IDW baseline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也不是公開資料集的 persistence 或 linear regression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Web demo 左側 Indoor Baseline 就是在設定 T₀/H₀/L₀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所有設備影響都是在 b₀ 上加減偏移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數值例：b₀=(29°C,67%,90 lux)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4：baseline 的取得方式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有啟動前觀測時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T₀ = (1/|S|) ∑ₛ∈S O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(pₛ, 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ref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H₀ = (1/|S|) ∑ₛ∈S O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(pₛ, 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ref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L₀ = (1/|S|) ∑ₛ∈S O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(pₛ, 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ref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 是 8 顆角落感測器集合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ref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是設備尚未加入作用的參考時間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沒有啟動前觀測時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改由房間設計檔、情境設定或 demo 輸入提供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例如標準房間預設 T₀=29°C、H₀=67%、L₀=90 lux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因此 baseline 不是模型學出來的黑盒值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它是後續設備影響與 residual correction 的共同起點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baseline 資料來源需在情境設定中明確標示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數值例：ΣT=232°C, |S|=8 → T₀=29°C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5：高度正規化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垂直座標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ζ = z / Hᵣ - 1/2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Hᵣ：房間高度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z：查詢點高度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ζ 約落在 -0.5 到 0.5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ζ &gt; 0 表示偏上方；ζ &lt; 0 表示偏下方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為什麼需要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室內溫度與濕度可能存在垂直分層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冷空氣、熱源與混合程度會讓上下層不同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ζ 提供低成本的高度修正項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照度主要由光源幾何與遮蔽處理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所以高度不是三種變數完全相同地使用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數值例：z=1.2 m, Hᵣ=3 m → ζ=-0.1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6：設備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時間響應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Aⱼ(t) = aⱼ(1 - exp(-t/τⱼ))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j 代表某個設備，例如冷氣、窗戶或燈具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aⱼ：設備影響的穩態比例或強度尺度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τⱼ：接近穩態所需的時間常數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 越大，Aⱼ(t) 越接近 aⱼ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使用原因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設備不會在啟動瞬間把全室改變到穩態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冷氣降溫、除濕與窗戶交換都需要時間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這是一階收斂近似，計算成本低且可解釋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不是完整 HVAC transient simulation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目標是表達主要時間趨勢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數值例：a=1, t=10, τ=10 → A=1-e^-1=0.632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公式說明 7：influence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空間作用範圍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Eⱼ(p,t) = Aⱼ(t) Rⱼ(p) Dⱼ(p,t) Vⱼ(p)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Aⱼ(t)：設備目前啟動強度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Rⱼ(p)：距離衰減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Dⱼ(p,t)：方向性，例如冷氣出風或窗戶日照方向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Vⱼ(p)：可見性或遮蔽程度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距離衰減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Rⱼ(p) = exp(-||p - pⱼ|| / rⱼ)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pⱼ：設備位置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rⱼ：設備作用半徑或衰減尺度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距離越遠，局部影響越小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但全室平均項仍由各變數自己的 B 項處理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數值例：A=0.8,R=0.5,D=0.9,V=1 → E=0.36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8：溫度場主式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溫度 nominal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T₀ +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+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+ γ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M(t) ζ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T₀：室內基準溫度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(t)：全室平均熱響應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(p,t)：局部空間熱響應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γ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M(t)ζ：垂直溫度分層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使用原因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溫度受熱交換、熱源與空氣混合影響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只做局部衰減會低估冷氣的全室降溫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所以保留 B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表示整體室溫移動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再表達出風口、窗邊或燈具附近差異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這是控制導向 reduced-order 熱場近似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數值例：29-1.2-0.5+0.2(-0.1)=27.28°C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9：溫度的全室與局部項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分解式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+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+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+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+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負責全室平均狀態改變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負責某些位置比較強的局部差異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兩者合起來避免 local-only 或 well-mixed-only 的偏誤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三類來源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冷氣：依模式與設定溫差讓室內趨冷或趨暖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窗戶：依 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- T₀ 表示外氣熱交換方向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燈具：在溫度路徑中視為小型熱源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燈具在溫度模型中代表發熱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這就是變數專屬公式的意義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數值例：B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=-1.0+0.2+0.1=-0.7°C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10：冷氣溫度項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冷氣全室項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m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：冷房或暖房模式符號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k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ac,T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ᵍ：冷氣對全室溫度的增益係數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d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：設定溫度與室內基準的需求差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：校正後冷氣 power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冷氣局部項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k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ac,T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ˢ：冷氣局部空間增益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(p,t)：出風口附近、方向與遮蔽造成的空間權重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B 表示全室趨勢，S 表示出風口附近差異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兩者不是任意疊加，而是修正 local-only 的缺陷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數值例：s=-1,k=0.8,d=3,P=1,A=0.5 → B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ac,T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=-1.2°C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11：窗戶與燈具溫度項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窗戶熱交換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(T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T₀)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(T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T₀)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&gt; T₀ 時偏升溫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&lt; T₀ 時偏降溫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win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表示窗戶開啟比例或校正後影響尺度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燈具熱源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燈具在溫度模型裡只代表發熱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照明造成的 lux 變化由照度模型另外處理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這可避免把光學效果誤解成熱場效果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數值例：k=0.05,T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-T₀=4 → B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win,T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=+0.20°C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12：濕度場主式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濕度 nominal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clip[0,100]{H₀ +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+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- γ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M(t) ζ}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H₀：室內基準相對濕度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(t)：全室平均水氣或除濕響應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(p,t)：局部水氣交換或除濕差異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clip[0,100]：相對濕度限制在 0% 到 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使用原因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相對濕度有明確物理範圍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冷氣常見效果是除濕，所以符號方向不同於溫度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窗戶則由室外濕度與室內基準濕度差決定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本研究不主張完整 psychrometric model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而是用低階水氣交換近似再由 sensor residual 校正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數值例：clip[0,100](67-5+1-0.2)=62.8%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13：濕度來源項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全室濕度項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-k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+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(H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H₀)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冷氣項為負：表示除濕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窗戶項正負由 H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- H₀ 決定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外面較濕時開窗提高濕度，較乾時降低濕度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局部濕度項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-k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+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(H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H₀)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讓除濕效果在冷氣影響區附近更強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win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讓窗邊水氣交換較強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濕度沒有使用燈具照度那套光學公式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數值例：-0.4×10×0.5 + 0.02×8=-1.84%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14：照度場主式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照度 nominal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max{0, L₀ + 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ᵈⁱʳ(p,t)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+ 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ᵈⁱʳ(p,t) + 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ᵃᵐᵇ(p,t) + Iʳᵉᶠˡ(p,t)}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L₀：室內基準照度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max{0,...}：照度不可為負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照度由燈具光束、窗戶、遮蔽與反射決定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為什麼不同於溫濕度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照度不是空氣混合或水氣交換問題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它更接近光線幾何與可視性問題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燈具與窗戶可造成局部高照度峰值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所以保留 direct source 與 obstruction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再用一次漫反射補足間接光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數值例：max(0,90+250+120+40+30)=530 lux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15：直射光與環境光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窗戶直射光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ᵈⁱʳ(p,t) =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f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sol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：室外日照強度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d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f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：與時間、季節或日照方向相關的折減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k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sol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：窗戶日照轉換係數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win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：窗戶到室內點的距離、方向與遮蔽權重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燈具與環境光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ᵈⁱʳ(p,t) = G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Φ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(p) 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(p) V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Φ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light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：由光束角推得的 cosine 方向權重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Q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light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：參考距離正規化後的距離衰減；V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light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：遮蔽或可見性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ᵃᵐᵇ(p,t)：窗戶帶來的擴散環境光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直射與環境光分開，可描述窗邊與全室背景亮度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數值例：500×1×0.8×0.5×0.4×1=80 lux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16：一次漫反射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反射公式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Iʳᵉᶠˡ(p,t) =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ρ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Ī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ʳᵉˡ exp(-||p-c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||/ℓ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× max(0, 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·r̂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→p) V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s：牆、地板、天花板或家具表面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ρ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s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：表面反射率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Ī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s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：表面接收到的平均照度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模型限制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一次漫反射用來補足非直射區域的回填亮度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它不是完整 ray tracing 或 radiosity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只計算一次反射，因此成本較低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主要用途是改善照度空間趨勢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不等同精密光學模擬等級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數值例：0.6×200×0.5×0.4×0.8×1=19.2 lux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17：8 參數校正多項式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三線性形式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C(p) = c₀ + c₁X + c₂Y + c₃Z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+ c₄XY + c₅XZ + c₆YZ + c₇XYZ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X,Y,Z 是正規化房間座標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8 個係數對應 8 個角落感測器約束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係數會依變數 v 與當次感測校正狀態而定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為什麼剛好 8 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房間有地面四角與天花板四角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每個變數在同一時間有 8 個 residual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三線性校正場也有 8 個自由度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因此可由 8 個角點唯一決定此低階校正場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但不是唯一決定任意複雜真實場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數值例：X=Y=Z=0.5 → C=0.375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18：角點 residual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residual 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rᵛ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abc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Oᵥ(p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abc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,t) - Nᵥ(p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abc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a,b,c ∈ {0,1}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abc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：其中一個房間角點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Oᵥ：該角點感測器觀測值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Nᵥ：nominal model 在同一角點的預測值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直覺意義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rᵛ 是主模型在感測點的誤差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如果 rᵛ 為正，代表模型低估該角點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如果 rᵛ 為負，代表模型高估該角點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校正場 Cᵥ 的任務就是把這些角點誤差平滑帶入室內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這一步讓模型與真實稀疏感測資料對齊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數值例：O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=27.2,N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=26.8 → r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=+0.4°C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19：三線性校正式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校正公式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Cᵥ(X,Y,Z,t) =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a,b,c∈B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rᵛ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abc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× ℓ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(X) ℓ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b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(Y) ℓ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(Z), B={0,1}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ℓ₀(u)=1-u，ℓ₁(u)=u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X/Y/Z 皆在 0 到 1 之間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每個內部點都是 8 個角落 residual 的加權和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重要性質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所有權重非負且總和為 1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所以這是房間內部補間，不是無限制外插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在任一角點上，對應權重為 1，其餘為 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因此校正後感測器位置會與觀測一致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這是本研究 8 點推估最核心的數學基礎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數值例：中心點權重各 1/8，Σr=1.6 → C=0.2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20：校正後估計值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回到主公式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F̂ᵥ(p,t) = Nᵥ(p,t) + Cᵥ(p,t)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在角點：Cᵥ 等於觀測 residual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 F̂ᵥ(p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abc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,t) = Oᵥ(p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abc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在非角點：Cᵥ 是 8 個 residual 的三線性補間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 則保留設備與物理結構的空間趨勢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適用範圍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8 顆感測器不能直接量到所有點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三線性 residual correction 在角點與觀測一致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其他點是 nominal model 加上低階 residual 補間的估計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適用於主要空間趨勢估計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不等同無條件還原任意真實室內場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=26.8,C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=0.4 → F̂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=27.2°C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公式說明 21：可完全表示的 residual 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函數空間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𝒱 = span{1, X, Y, Z, XY, XZ, YZ, XYZ}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這個空間的維度是 8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三線性函數可由 8 個角點取值唯一決定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如果真實 residual 屬於 𝒱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則 8 個角點 residual 可完全重建整個 residual 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適用範圍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並非所有室內場都必然三線性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三線性 residual 假設下可完全重建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平滑但非三線性的 residual 可由誤差界描述接近程度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突發局部熱源、光斑或遮蔽尖峰需額外資料補強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此條件界定模型適用範圍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數值例：R=0.2+0.3X+0.1Y，(0.5,0.5,0)→0.40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22：平滑 residual 的誤差界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這個上界在衡量什麼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|Rᵥ-Cᵥ| ≤ W²M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xx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/8 + L²M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yy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/8 + H²M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zz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/8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左邊：某個未量測點的 residual 可能補錯多少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M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xx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≥ max|∂²Rᵥ/∂x²|：x 方向曲率上界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M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yy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、M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zz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同理對應 y/z 方向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W/L/H 越大，補間跨度越長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為什麼會這樣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xx 表示對 x 微分兩次，不是 x×x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線性補間用端點連線近似中間曲線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若 residual 是直線，二階導數為 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曲率越大，中間點越可能偏離直線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三線性補間是 x/y/z 三方向線性補間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平滑 residual 可控；尖峰或光斑需更多資料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數值例：W=6,L=4,H=3,M=(0.01,0.02,0.01) → bound≈0.096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23：非連網裝置影響學習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before/after delta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Δy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= 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ᵃᶠᵗᵉʳ - 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ᵇᵉᶠᵒʳᵉ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m ∈ {T,H,L}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X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i,k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：第 i 個感測點對第 k 個裝置 envelope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Δy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≈ X β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同一筆 record 綁定裝置狀態、baseline 與 outdoor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least-squares 估計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β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= argmin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β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||Δy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Xβ||²₂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β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：裝置對第 m 個因子的影響係數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X：由 influence envelope 組成的設計矩陣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before/after 觀測提供真實操作造成的差異訊號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多事件重疊時係數代表混合效果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數值例：X=[1,0.5], Δy=[-0.8,-0.4] → β=-0.8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24：Hybrid residual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第二層修正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hybrid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ᵛ(p,t) = Fᵥ(p,t) + Rᵥ(p,t; θᵥ)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Fᵥ：前面可解釋的 base estimator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Rᵥ：小型 neural network 預測的 residual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預測推廣：ŷ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hybrid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(t+h|I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)=ŷ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phys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(t+h|I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)+ê(t+h|I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 是 lead time；兩項對齊同一 target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hybrid 不是取代物理模型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physics 有 t+h：主模型須預測目標時刻 baseline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I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只含 t 時可得資訊；禁止未來觀測 leakage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本研究目前為 current-state spatial estimate，即 h=0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LOO 結果代表標準情境 family 內 residual 可學習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數值例：F=27.0,R=-0.3 → F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hybrid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=26.7°C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25：Hybrid 訓練目標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residual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Rᵥ*(p,t) = F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true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ᵛ(p,t) - Fᵥ(p,t)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true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ᵛ：訓練或合成 truth 場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Fᵥ：base estimator 輸出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Rᵥ*：希望 neural network 學到的剩餘誤差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訓練時不是直接預測整個場，而是預測 residual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損失函數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ℒ(θᵥ) = (1/N)Σᵢ ||Rᵥ*(pᵢ,tᵢ)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- Rᵥ(pᵢ,tᵢ;θᵥ)||² + λ||θᵥ||²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第一項是 residual 預測誤差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第二項是正則化，降低過擬合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溫濕度響應較平滑可低通；照度因光源/遮蔽需保留快速跳變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數值例：errors=(0.2,-0.1), λ||θ||²=0.01 → ℒ=0.035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公式說明 26：MAE、RMSE 與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誤差指標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MAE = (1/n) Σᵢ |ŷᵢ - yᵢ|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RMSE = √[(1/n) Σᵢ (ŷᵢ - yᵢ)²]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Corr = cov(ŷ,y)/(σ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ŷ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y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ŷᵢ：模型估計值；yᵢ：truth 或觀測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n：比較樣本數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使用原因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MAE 代表平均偏差，最直觀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RMSE 會放大尖峰或離群誤差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Correlation 用於公開資料時序任務，檢查趨勢是否同向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三者搭配可避免只看單一指標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照度量級較大，圖表常用 log-scale 避免遮蔽溫濕度差異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數值例：ŷ=[1,2,3], y=[1,2,4] → MAE=0.33, RMSE=0.58, Corr≈0.98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27：IDW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IDW 插值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IDW(p) =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w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O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/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w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w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= 1 / (dist(p,s) + ε)^q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s：感測器索引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O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s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：感測器觀測值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q：距離權重指數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比較基準理由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IDW 是無設備物理先驗的幾何插值 baseline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它只知道感測器位置與距離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不知道冷氣出風、窗戶日照或燈具位置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若本研究優於 IDW，表示設備與空間結構有提供額外資訊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 IDW 在無光源、平坦場時可能表現不差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數值例：O=(26,30), d=(1,3), q=2 → IDW≈26.4°C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28：推薦排序與驗證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推薦分數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(S)= (1/K)Σ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k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F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k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P(q)=Σ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w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max(0,(|q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-g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|-δ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)/δ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Score(a)=P(q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base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)-P(q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m ∈ {T,H,L}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Score 越高，預期改善越大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92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驗證限制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123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S 是推薦評估的 sample scope 或目標區域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g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m</a:t>
            </a:r>
            <a:r>
              <a:rPr sz="1100" b="0">
                <a:solidFill>
                  <a:srgbClr val="1E2733"/>
                </a:solidFill>
                <a:latin typeface="Noto Sans TC"/>
              </a:rPr>
              <a:t> 是目標值，δ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m</a:t>
            </a:r>
            <a:r>
              <a:rPr sz="1100" b="0">
                <a:solidFill>
                  <a:srgbClr val="1E2733"/>
                </a:solidFill>
                <a:latin typeface="Noto Sans TC"/>
              </a:rPr>
              <a:t> 是容許範圍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目前推薦排序是 counterfactual simulation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真正驗證需做 before/after intervention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比較實際 comfort penalty reduction 與預測改善是否一致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數值例：q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base</a:t>
            </a:r>
            <a:r>
              <a:rPr sz="1100" b="0">
                <a:solidFill>
                  <a:srgbClr val="1E2733"/>
                </a:solidFill>
                <a:latin typeface="Noto Sans TC"/>
              </a:rPr>
              <a:t>=30,g=26,δ=2 → P=1；q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</a:t>
            </a:r>
            <a:r>
              <a:rPr sz="1100" b="0">
                <a:solidFill>
                  <a:srgbClr val="1E2733"/>
                </a:solidFill>
                <a:latin typeface="Noto Sans TC"/>
              </a:rPr>
              <a:t>=27 → P=0；Score=1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E11D：角色語意的獨立確認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H-ENC-04 supported；11 x 4 MiB，1,505 分鐘快照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MAE：2.3972 -&gt; 1.6517 C；RMSE：2.9748 -&gt; 2.3648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逐感測器勝出 30/42；配對改善 0.7455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20,000 次日區塊 bootstrap 95% CI：[0.6867, 0.8124]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限制：預測性角色資訊，不是氣流因果；仍屬次要機箱證據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E11E：平均改善，但尾端 gate 未通過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開發集：1,502 分鐘快照；E11F 未下載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Baseline MAE/RMSE/P95：1.1168/1.7250/3.4900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role_local_k5_p2：1.0187/1.6792/3.7699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Bootstrap CI：[0.0708, 0.1292] C；但只贏 25/42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決策：no_candidate_forwarded，不宣稱確認改善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E11G tail-safe：尾端改善但覆蓋未過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12 日 leave-one-day-out，42 感測器，30 候選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MAE：1.1168 → 0.8945°C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RMSE：1.7250 → 1.5415°C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P95：3.4900 → 3.1013°C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日區塊改善 95% CI：[0.1847, 0.2620]°C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嚴格勝率 21/42 &lt; 26/42；no_candidate_forwarded，E11F 未存取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E11H commissioning：開發通過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2 日校正、1 日選模、9 日凍結測試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MAE：1.0958 → 0.4039°C；P95：3.5061 → 1.2900°C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39/42 感測器改善；95% CI：[0.4854, 0.9271]°C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限制：Huber slope 邊界與 commissioning prerequisite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E11F：frozen no-refit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MAE/RMSE/P95：0.3966/0.6723/1.2756°C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39/42 感測器改善；95% CI：[0.5851, 0.9274]°C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h_enc_05_supported_within_campaign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日期與開發重疊：僅同 campaign unseen-byte evidence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不是跨機箱、氣流因果或 NTC 硬體驗證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BMC E12–E15：修正與同伺服器確認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E12：6 個 development files 未達 30 rows；final test 未開啟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E13：舊 parser／unit pipeline 結果標記 PARSER_INVALIDATED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E14A/B：4,038 rows 完成來源與單位稽核；三檔 raw-unit regime 被正規化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E14C retrospective：MAE 4.0882 → 1.8054°C；13/14 runs；95% CI [1.4271, 2.7939]°C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E15：另 14 檔、3,112 rows 不重訓確認；H-ENC-08 支持；12/14 runs 勝出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E15 只支持同伺服器 temporal/workload transfer；E14C 仍屬回溯證據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E15：同伺服器 temporal/workload 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14 個先前未開啟檔案、3,112 rows；frozen ridge 一次不重訓確認；十項閘門全通過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 / RMSE / P95：1.6939 / 1.9672 / 3.5000 → 0.9744 / 1.2056 / 2.3888°C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Macro run MAE gain 0.6134°C；95% CI [0.2721, 0.9831]°C；12/14 runs 勝出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退步 runs：202308051757.csv（-0.5537°C）、202310252230.csv（-0.3011°C）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只支持同伺服器轉移；PC 機箱、NTC、跨伺服器、空間熱場與控制尚未驗證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目前應用方向為機箱；單房間仍屬整體論文範圍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機箱受限制 MPC 探索性模擬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2026-10-05 探索結果，參數為事前假設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假設熱模型，36 回合與 4,320 控制步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holdout MAE：固定 5.438 / PID 2.603 / MPC 1.443°C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nominal 無命令違例、超溫或求解回退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MPC 風扇能耗 proxy 與 PWM 變化增加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過載仍超溫並出現求解回退，溫度是軟限制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實體機箱與 E8：NOT_EVALUATED，LQR：TODO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機箱四方法探索性模擬（v2）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2026-10-05；結果由 v2 evidence 產生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假設模型：48 回合／5,760 步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fixed／PID＋FF／LQR／MPC holdout MAE：2.905/1.771/1.730/1.807°C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相同候選回合預算；CPU 時間並不相等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完整狀態與已知名義參數；參數變體並非實體跨設備確認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超溫與數值失敗分開；實體機箱與 E8：NOT_EVALUATED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稀疏機箱溫度候選原型（2026-10-06）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探索性溫度子問題；不擴張原方法的實測主張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物理主模型 → 金屬片／空氣稀疏校正 → 多步動作排序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108 回合；熱源估測 MAE 0.658 → 0.335°C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六步排序追蹤較單步改善 9.03%；仍未優於 PI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指定假設平台；仍有超溫；實體辨識／介入未評估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全速平衡 32.40°C 案例：散熱能力與控制誤差分開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下週 LQR／Kalman 1960 原文介紹已備稿；尚未口頭報告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機箱溫度流程整合與跨模型探索 2026-10-12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溫度軟體整合與探索性模擬；保留未達判準的結果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量測 CSV → 有限辨識 → 稀疏估測 → 可限制的控制輸出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88 回合／10,560 步；熱容量與風扇延遲變體、額外傳熱路徑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估測平均改善 21.19%，僅 2/4 組：覆蓋判準不支持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六步改善僅 0.069%；未優於 PI，仍有取樣超溫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新增稀疏觀測 LQR／線性 MPC；全部命令合規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軟體與實機程序備妥；真實量測／介入待設備到位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