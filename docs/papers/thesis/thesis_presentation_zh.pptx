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系所：國立彰化師範大學資訊工程學系碩士班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主題：以 8 顆角落感測器重建單房間溫度、濕度、照度場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問題背景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一般房間內仍存在大量非連網裝置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冷氣、窗戶、照明會改變環境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但系統通常無法直接讀到其狀態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核心挑戰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只有少量感測器，無法直接知道全室分布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裝置可能新增、移動，家具也會阻擋傳遞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模型都出現不合理結果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408176"/>
            <a:ext cx="3474720" cy="35661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7160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53619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75104"/>
            <a:ext cx="3090672" cy="27980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重建三因子空間場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學習非連網裝置對環境的影響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以 Web 與工具介面提供查詢與決策能力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3577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19672" y="1453896"/>
            <a:ext cx="4572000" cy="42062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41732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58191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84264" y="2020824"/>
            <a:ext cx="4187952" cy="34381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房間尺寸：6 m × 4 m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感測器：地面四角 + 天花板四角，共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區域：window_zone / center_zone / door_side_zone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設備：ac_main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採樣網格：16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數學模型：變數專屬場模型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39496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核心表示式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501091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Nᵥ：變數專屬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Cᵥ：由角落感測器殘差擬合的 trilinear 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溫度：熱交換、熱源、垂直分層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濕度：除濕、水氣交換、物理範圍限制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91072" y="1362456"/>
            <a:ext cx="53035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53035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9377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模型特點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1929384"/>
            <a:ext cx="49194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冷氣、窗戶、照明都是模組化裝置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家具會造成 obstacle-aware attenuation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動態響應採一階收斂近似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三個變數共用座標、設備與校正框架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nominal model 不共用同一套物理公式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推薦必須先有 sample / cluster 與三因子目標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318" y="1024128"/>
            <a:ext cx="9064602" cy="5230368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不做預測；只提供 AI 可呼叫 runtime tools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initialize：設定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sample point：查指定座標在特定時間/穩定態的三因子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 impacts：建立 before/after 觀測紀錄再學係數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window direct：直接輸入外部溫濕度、日照與開窗比例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rank actions：指定座標 sample + T/H/L 目標後才排序註冊設備操作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時間軸、播放、point sample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裝置與家具都可模組化設定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支援 hybrid estimator toggle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輸入模式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標準情境 8 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窗戶矩陣 48 組：34 範圍內／14 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 direct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自訂家具與自訂裝置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驗證流程與比較原則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6026"/>
            <a:ext cx="5303520" cy="2900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E1-E3：synthetic full-field、IDW baseline、ablation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E4：非連網裝置影響學習與推薦排序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E5：window matrix 48 組（34 範圍內／14 壓力測試）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E6：hybrid no-Fourier 對照與 LOO cross-validation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E7：bedroom_01 28 筆，pillow hold-out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E8 execution kit：schema / template / analyzer；0 trials、NOT_EVALUATED</a:t>
            </a:r>
          </a:p>
          <a:p>
            <a:pPr>
              <a:lnSpc>
                <a:spcPct val="112000"/>
              </a:lnSpc>
              <a:spcAft>
                <a:spcPts val="630"/>
              </a:spcAft>
              <a:defRPr sz="1400">
                <a:solidFill>
                  <a:srgbClr val="1E2733"/>
                </a:solidFill>
                <a:latin typeface="Noto Sans TC"/>
              </a:defRPr>
            </a:pPr>
            <a:r>
              <a:rPr sz="1400" b="0">
                <a:solidFill>
                  <a:srgbClr val="1E2733"/>
                </a:solidFill>
                <a:latin typeface="Noto Sans TC"/>
              </a:rPr>
              <a:t>• E9 public benchmark；E10 controlled filtering；E11A BMC temporal transfer；demo 不是量化實驗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主要結果：場重建與 baseline 比較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38328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299923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65576"/>
            <a:ext cx="3383280" cy="2103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29000"/>
            <a:ext cx="33832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935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4032504"/>
            <a:ext cx="2999232" cy="1335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驗證情境數：8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比較項目：field / sensors / zones / IDW / recommendations</a:t>
            </a:r>
          </a:p>
        </p:txBody>
      </p:sp>
      <p:pic>
        <p:nvPicPr>
          <p:cNvPr id="15" name="Picture 1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50872"/>
            <a:ext cx="3474720" cy="3447694"/>
          </a:xfrm>
          <a:prstGeom prst="rect">
            <a:avLst/>
          </a:prstGeom>
        </p:spPr>
      </p:pic>
      <p:pic>
        <p:nvPicPr>
          <p:cNvPr id="16" name="Picture 1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750872"/>
            <a:ext cx="3474720" cy="3447694"/>
          </a:xfrm>
          <a:prstGeom prst="rect">
            <a:avLst/>
          </a:prstGeom>
        </p:spPr>
      </p:pic>
      <p:sp>
        <p:nvSpPr>
          <p:cNvPr id="1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457200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45720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Held-out + LOO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18795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hybrid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hybrid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 MAE: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hybrid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96062"/>
            <a:ext cx="5669280" cy="27113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是第二層修正器，不取代主模型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不使用 physics estimate；8/8 folds parity，lowest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結果證明標準情境 family 內殘差可學習，不代表任意房間泛化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以 20,000 次 date-block bootstrap 檢查 pillow 改善，三因子 95% CI 下界皆 &gt;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E7 逐日剔除最小降幅：T 0.6123 / H 3.5551 / L 290.5716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公開資料任務拆解：SML2010 / CU-BEMS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73" y="1234440"/>
            <a:ext cx="5191932" cy="3063240"/>
          </a:xfrm>
          <a:prstGeom prst="rect">
            <a:avLst/>
          </a:prstGeom>
        </p:spPr>
      </p:pic>
      <p:pic>
        <p:nvPicPr>
          <p:cNvPr id="6" name="Picture 5" descr="cu_bems_task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33" y="1234440"/>
            <a:ext cx="5191932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617720"/>
            <a:ext cx="10607040" cy="146304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S3 是主要優勢：事件/邊界 delta 需要變化方向，structured prior 比 persistence 與 linear regression 更有用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S1 與 C2 是主要劣勢：短視窗照度高度自相關，且公開資料缺實際幾何、遮蔽與多燈具資訊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Oh2024-inspired residual：15min 兩點溫度最佳；60min 本研究 readout 最佳；24h persistence 最佳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次日 primary：validation 選出的 daily trend 反而惡化 7.34% / 8.36%；bootstrap interval 均跨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探索性 adaptive median 亦惡化 8.83% / 9.73%；約 1% 的未選中 bias correction 不足以主張優勢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SML2010 時序 RNN：12/12 通過 parity；lowest MAE = sequence LR 7、persistence 5、RNN 0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四種方法共用四筆 history、split、targets 與 test rows；負向結果保留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Kalman 受控 filtering：12/12 parity；lowest MAE = MA(3) 6、Linear Kalman 6、raw 0</a:t>
            </a:r>
          </a:p>
        </p:txBody>
      </p:sp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研究貢獻與資料策略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提出以單房間、8 顆角落感測器為前提的三因子空間數位孿生原型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以變數專屬 nominal model、power calibration 與 trilinear correction 建立可解釋估測流程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以 least-squares 學習非連網裝置影響，並用 hybrid residual 做第二層修正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明確拆分 synthetic full-field、real sparse calibration、public task-aligned 與 intervention validation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完整 3D 場比較以 canonical synthetic benchmark 為主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真實臥室快照校正後 pillow MAE: T=0.1676, H=0.3939, L=16.6450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公開資料集則採 task-aligned benchmark：CU-BEMS / SML2010 / ASHRAE 各比相容子任務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室內應用溫度範圍固定 20–30 °C；人體舒適採目標帶與容許範圍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有限角落感測器下仍可用分層式模型重建單房間三因子分布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非連網裝置可透過環境變化進行影響學習與校正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7 天快照顯示校正後可改善未參與 fitting 的 pillow 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各資料來源支援的驗證範圍已拆開說明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injected-noise 結果依變數分化：溫度由 MA(3) 較佳，濕度由 Linear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模型已能輸出區域估計、反事實推薦排序與 AI 可查詢工具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499616"/>
            <a:ext cx="521208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2120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48463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2066544"/>
            <a:ext cx="482803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GRU / LSTM：SML2010 簡易同資料比較完成；兩者 lowest MAE 皆 0/12，H-RNNGATE-01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PID：相同 plant / setpoint / disturbance 的閉環控制 baseline（尚未評估）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機箱 E11A/E11B 假說不支持；E11C local IDW aggregate MAE 1.223 °C，但僅勝出 21/42，H-ENC-03 不支持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20–30 °C 動態植物生長環境：先補 PPFD/CO2/基質與生物 endpoint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以獨立 reference 驗證實體 sensing-node filtering，再評估 EKF/UKF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